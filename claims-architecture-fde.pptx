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is the reason the payout calculation is kept out of the models in every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golden set is frozen and never trained on, so the three architectures are scored against the same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upload path. It prices against a single coverage pool rather than split collision and comprehensive limits, because an uploaded photo has no claim story and the peril cannot be 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was a fixed routing workflow with one node per tool and hardcoded edges, which is a workflow rather than an agent. It was rebuilt so the planner selects its own tools. The agent reuses Architecture 2's components as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nodes are the graph. The vision model, judge model, and database reads are the checks the executor runs, not nodes in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values from models are clamped rather than rejected, because a formatting slip such as 1.2 should not crash an otherwise valid verdict. LangSmith tracing is opt in and scoped to synthetic data, since claim stories carry PII.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deductible meets or exceeds the applicable limit, no loss of any size can pay out. That is a malformed policy rather than a genuine zero, so it escalates instead of auto approving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asymmetry to disclose if asked: the live upload path prices against a single coverage pool rather than split collision and comprehensive limits, because a freshly uploaded photo has no story and the peril cannot be 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routing is a cost lever if asked. The planner runs on a small model because it makes a narrow choice up to eight times per claim, while story consistency and peril run on a larger model because they are nuanced and called once or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OBLEM_3CAR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2286000"/>
            <a:ext cx="3346704" cy="2468880"/>
          </a:xfrm>
          <a:prstGeom prst="rect">
            <a:avLst/>
          </a:prstGeom>
          <a:solidFill>
            <a:srgbClr val="F2F3F5"/>
          </a:solidFill>
          <a:ln/>
        </p:spPr>
      </p:sp>
      <p:sp>
        <p:nvSpPr>
          <p:cNvPr id="3" name="Shape 1"/>
          <p:cNvSpPr/>
          <p:nvPr/>
        </p:nvSpPr>
        <p:spPr>
          <a:xfrm>
            <a:off x="4421124" y="2286000"/>
            <a:ext cx="3346704" cy="2468880"/>
          </a:xfrm>
          <a:prstGeom prst="rect">
            <a:avLst/>
          </a:prstGeom>
          <a:solidFill>
            <a:srgbClr val="F2F3F5"/>
          </a:solidFill>
          <a:ln/>
        </p:spPr>
      </p:sp>
      <p:sp>
        <p:nvSpPr>
          <p:cNvPr id="4" name="Shape 2"/>
          <p:cNvSpPr/>
          <p:nvPr/>
        </p:nvSpPr>
        <p:spPr>
          <a:xfrm>
            <a:off x="8019288" y="2286000"/>
            <a:ext cx="3346704" cy="2468880"/>
          </a:xfrm>
          <a:prstGeom prst="rect">
            <a:avLst/>
          </a:prstGeom>
          <a:solidFill>
            <a:srgbClr val="F2F3F5"/>
          </a:solidFill>
          <a:ln/>
        </p:spPr>
      </p:sp>
      <p:sp>
        <p:nvSpPr>
          <p:cNvPr id="5" name="Text 3"/>
          <p:cNvSpPr/>
          <p:nvPr>
            <p:ph idx="103" type="body" hasCustomPrompt="1"/>
          </p:nvPr>
        </p:nvSpPr>
        <p:spPr>
          <a:xfrm>
            <a:off x="822960" y="566928"/>
            <a:ext cx="7315200" cy="274320"/>
          </a:xfrm>
          <a:prstGeom prst="rect">
            <a:avLst/>
          </a:prstGeom>
          <a:noFill/>
          <a:ln/>
        </p:spPr>
        <p:txBody>
          <a:bodyPr wrap="square" rtlCol="0"/>
          <a:lstStyle>
            <a:lvl1pPr indent="0" marL="0">
              <a:buNone/>
              <a:defRPr lang="en-US" sz="1100" b="1" spc="200" kern="0"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6" name="Text 3"/>
          <p:cNvSpPr/>
          <p:nvPr>
            <p:ph idx="104" type="title" hasCustomPrompt="1"/>
          </p:nvPr>
        </p:nvSpPr>
        <p:spPr>
          <a:xfrm>
            <a:off x="822960" y="896112"/>
            <a:ext cx="10543032" cy="640080"/>
          </a:xfrm>
          <a:prstGeom prst="rect">
            <a:avLst/>
          </a:prstGeom>
          <a:noFill/>
          <a:ln/>
        </p:spPr>
        <p:txBody>
          <a:bodyPr wrap="square" rtlCol="0"/>
          <a:lstStyle>
            <a:lvl1pPr indent="0" marL="0">
              <a:buNone/>
              <a:defRPr lang="en-US" sz="3100" b="1" dirty="0">
                <a:solidFill>
                  <a:srgbClr val="22303C"/>
                </a:solidFill>
                <a:latin typeface="Cambria" pitchFamily="34" charset="0"/>
                <a:ea typeface="Cambria" pitchFamily="34" charset="-122"/>
                <a:cs typeface="Cambria" pitchFamily="34" charset="-120"/>
              </a:defRPr>
            </a:lvl1pPr>
          </a:lstStyle>
          <a:p>
            <a:pPr indent="0" marL="0">
              <a:buNone/>
            </a:pPr>
            <a:endParaRPr lang="en-US" sz="3100" dirty="0"/>
          </a:p>
        </p:txBody>
      </p:sp>
      <p:sp>
        <p:nvSpPr>
          <p:cNvPr id="7" name="Text 3"/>
          <p:cNvSpPr/>
          <p:nvPr>
            <p:ph idx="105" type="body" hasCustomPrompt="1"/>
          </p:nvPr>
        </p:nvSpPr>
        <p:spPr>
          <a:xfrm>
            <a:off x="1115568" y="2487168"/>
            <a:ext cx="2761488" cy="365760"/>
          </a:xfrm>
          <a:prstGeom prst="rect">
            <a:avLst/>
          </a:prstGeom>
          <a:noFill/>
          <a:ln/>
        </p:spPr>
        <p:txBody>
          <a:bodyPr wrap="square" rtlCol="0"/>
          <a:lstStyle>
            <a:lvl1pPr indent="0" marL="0">
              <a:buNone/>
              <a:defRPr lang="en-US" sz="1750" b="1" dirty="0">
                <a:solidFill>
                  <a:srgbClr val="9A3B2C"/>
                </a:solidFill>
                <a:latin typeface="Cambria" pitchFamily="34" charset="0"/>
                <a:ea typeface="Cambria" pitchFamily="34" charset="-122"/>
                <a:cs typeface="Cambria" pitchFamily="34" charset="-120"/>
              </a:defRPr>
            </a:lvl1pPr>
          </a:lstStyle>
          <a:p>
            <a:pPr indent="0" marL="0">
              <a:buNone/>
            </a:pPr>
            <a:endParaRPr lang="en-US" sz="1750" dirty="0"/>
          </a:p>
        </p:txBody>
      </p:sp>
      <p:sp>
        <p:nvSpPr>
          <p:cNvPr id="8" name="Text 3"/>
          <p:cNvSpPr/>
          <p:nvPr>
            <p:ph idx="106" type="body" hasCustomPrompt="1"/>
          </p:nvPr>
        </p:nvSpPr>
        <p:spPr>
          <a:xfrm>
            <a:off x="1115568" y="2971800"/>
            <a:ext cx="2761488" cy="1554480"/>
          </a:xfrm>
          <a:prstGeom prst="rect">
            <a:avLst/>
          </a:prstGeom>
          <a:noFill/>
          <a:ln/>
        </p:spPr>
        <p:txBody>
          <a:bodyPr wrap="square" rtlCol="0"/>
          <a:lstStyle>
            <a:lvl1pPr indent="0" marL="0">
              <a:lnSpc>
                <a:spcPts val="1800"/>
              </a:lnSpc>
              <a:buNone/>
              <a:defRPr lang="en-US" sz="1300" dirty="0">
                <a:solidFill>
                  <a:srgbClr val="22303C"/>
                </a:solidFill>
                <a:latin typeface="Calibri" pitchFamily="34" charset="0"/>
                <a:ea typeface="Calibri" pitchFamily="34" charset="-122"/>
                <a:cs typeface="Calibri" pitchFamily="34" charset="-120"/>
              </a:defRPr>
            </a:lvl1pPr>
          </a:lstStyle>
          <a:p>
            <a:pPr indent="0" marL="0">
              <a:lnSpc>
                <a:spcPts val="1800"/>
              </a:lnSpc>
              <a:buNone/>
            </a:pPr>
            <a:endParaRPr lang="en-US" sz="1300" dirty="0"/>
          </a:p>
        </p:txBody>
      </p:sp>
      <p:sp>
        <p:nvSpPr>
          <p:cNvPr id="9" name="Text 3"/>
          <p:cNvSpPr/>
          <p:nvPr>
            <p:ph idx="107" type="body" hasCustomPrompt="1"/>
          </p:nvPr>
        </p:nvSpPr>
        <p:spPr>
          <a:xfrm>
            <a:off x="4713732" y="2487168"/>
            <a:ext cx="2761488" cy="365760"/>
          </a:xfrm>
          <a:prstGeom prst="rect">
            <a:avLst/>
          </a:prstGeom>
          <a:noFill/>
          <a:ln/>
        </p:spPr>
        <p:txBody>
          <a:bodyPr wrap="square" rtlCol="0"/>
          <a:lstStyle>
            <a:lvl1pPr indent="0" marL="0">
              <a:buNone/>
              <a:defRPr lang="en-US" sz="1750" b="1" dirty="0">
                <a:solidFill>
                  <a:srgbClr val="9A3B2C"/>
                </a:solidFill>
                <a:latin typeface="Cambria" pitchFamily="34" charset="0"/>
                <a:ea typeface="Cambria" pitchFamily="34" charset="-122"/>
                <a:cs typeface="Cambria" pitchFamily="34" charset="-120"/>
              </a:defRPr>
            </a:lvl1pPr>
          </a:lstStyle>
          <a:p>
            <a:pPr indent="0" marL="0">
              <a:buNone/>
            </a:pPr>
            <a:endParaRPr lang="en-US" sz="1750" dirty="0"/>
          </a:p>
        </p:txBody>
      </p:sp>
      <p:sp>
        <p:nvSpPr>
          <p:cNvPr id="10" name="Text 3"/>
          <p:cNvSpPr/>
          <p:nvPr>
            <p:ph idx="108" type="body" hasCustomPrompt="1"/>
          </p:nvPr>
        </p:nvSpPr>
        <p:spPr>
          <a:xfrm>
            <a:off x="4713732" y="2971800"/>
            <a:ext cx="2761488" cy="1554480"/>
          </a:xfrm>
          <a:prstGeom prst="rect">
            <a:avLst/>
          </a:prstGeom>
          <a:noFill/>
          <a:ln/>
        </p:spPr>
        <p:txBody>
          <a:bodyPr wrap="square" rtlCol="0"/>
          <a:lstStyle>
            <a:lvl1pPr indent="0" marL="0">
              <a:lnSpc>
                <a:spcPts val="1800"/>
              </a:lnSpc>
              <a:buNone/>
              <a:defRPr lang="en-US" sz="1300" dirty="0">
                <a:solidFill>
                  <a:srgbClr val="22303C"/>
                </a:solidFill>
                <a:latin typeface="Calibri" pitchFamily="34" charset="0"/>
                <a:ea typeface="Calibri" pitchFamily="34" charset="-122"/>
                <a:cs typeface="Calibri" pitchFamily="34" charset="-120"/>
              </a:defRPr>
            </a:lvl1pPr>
          </a:lstStyle>
          <a:p>
            <a:pPr indent="0" marL="0">
              <a:lnSpc>
                <a:spcPts val="1800"/>
              </a:lnSpc>
              <a:buNone/>
            </a:pPr>
            <a:endParaRPr lang="en-US" sz="1300" dirty="0"/>
          </a:p>
        </p:txBody>
      </p:sp>
      <p:sp>
        <p:nvSpPr>
          <p:cNvPr id="11" name="Text 3"/>
          <p:cNvSpPr/>
          <p:nvPr>
            <p:ph idx="109" type="body" hasCustomPrompt="1"/>
          </p:nvPr>
        </p:nvSpPr>
        <p:spPr>
          <a:xfrm>
            <a:off x="8311896" y="2487168"/>
            <a:ext cx="2761488" cy="365760"/>
          </a:xfrm>
          <a:prstGeom prst="rect">
            <a:avLst/>
          </a:prstGeom>
          <a:noFill/>
          <a:ln/>
        </p:spPr>
        <p:txBody>
          <a:bodyPr wrap="square" rtlCol="0"/>
          <a:lstStyle>
            <a:lvl1pPr indent="0" marL="0">
              <a:buNone/>
              <a:defRPr lang="en-US" sz="1750" b="1" dirty="0">
                <a:solidFill>
                  <a:srgbClr val="9A3B2C"/>
                </a:solidFill>
                <a:latin typeface="Cambria" pitchFamily="34" charset="0"/>
                <a:ea typeface="Cambria" pitchFamily="34" charset="-122"/>
                <a:cs typeface="Cambria" pitchFamily="34" charset="-120"/>
              </a:defRPr>
            </a:lvl1pPr>
          </a:lstStyle>
          <a:p>
            <a:pPr indent="0" marL="0">
              <a:buNone/>
            </a:pPr>
            <a:endParaRPr lang="en-US" sz="1750" dirty="0"/>
          </a:p>
        </p:txBody>
      </p:sp>
      <p:sp>
        <p:nvSpPr>
          <p:cNvPr id="12" name="Text 3"/>
          <p:cNvSpPr/>
          <p:nvPr>
            <p:ph idx="110" type="body" hasCustomPrompt="1"/>
          </p:nvPr>
        </p:nvSpPr>
        <p:spPr>
          <a:xfrm>
            <a:off x="8311896" y="2971800"/>
            <a:ext cx="2761488" cy="1554480"/>
          </a:xfrm>
          <a:prstGeom prst="rect">
            <a:avLst/>
          </a:prstGeom>
          <a:noFill/>
          <a:ln/>
        </p:spPr>
        <p:txBody>
          <a:bodyPr wrap="square" rtlCol="0"/>
          <a:lstStyle>
            <a:lvl1pPr indent="0" marL="0">
              <a:lnSpc>
                <a:spcPts val="1800"/>
              </a:lnSpc>
              <a:buNone/>
              <a:defRPr lang="en-US" sz="1300" dirty="0">
                <a:solidFill>
                  <a:srgbClr val="22303C"/>
                </a:solidFill>
                <a:latin typeface="Calibri" pitchFamily="34" charset="0"/>
                <a:ea typeface="Calibri" pitchFamily="34" charset="-122"/>
                <a:cs typeface="Calibri" pitchFamily="34" charset="-120"/>
              </a:defRPr>
            </a:lvl1pPr>
          </a:lstStyle>
          <a:p>
            <a:pPr indent="0" marL="0">
              <a:lnSpc>
                <a:spcPts val="1800"/>
              </a:lnSpc>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RCH_OVERVIEW">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2286000"/>
            <a:ext cx="3346704" cy="1234440"/>
          </a:xfrm>
          <a:prstGeom prst="rect">
            <a:avLst/>
          </a:prstGeom>
          <a:solidFill>
            <a:srgbClr val="F2F3F5"/>
          </a:solidFill>
          <a:ln/>
        </p:spPr>
      </p:sp>
      <p:sp>
        <p:nvSpPr>
          <p:cNvPr id="3" name="Shape 1"/>
          <p:cNvSpPr/>
          <p:nvPr/>
        </p:nvSpPr>
        <p:spPr>
          <a:xfrm>
            <a:off x="4421124" y="2286000"/>
            <a:ext cx="3346704" cy="1234440"/>
          </a:xfrm>
          <a:prstGeom prst="rect">
            <a:avLst/>
          </a:prstGeom>
          <a:solidFill>
            <a:srgbClr val="F2F3F5"/>
          </a:solidFill>
          <a:ln/>
        </p:spPr>
      </p:sp>
      <p:sp>
        <p:nvSpPr>
          <p:cNvPr id="4" name="Shape 2"/>
          <p:cNvSpPr/>
          <p:nvPr/>
        </p:nvSpPr>
        <p:spPr>
          <a:xfrm>
            <a:off x="8019288" y="2286000"/>
            <a:ext cx="3346704" cy="1234440"/>
          </a:xfrm>
          <a:prstGeom prst="rect">
            <a:avLst/>
          </a:prstGeom>
          <a:solidFill>
            <a:srgbClr val="F2F3F5"/>
          </a:solidFill>
          <a:ln/>
        </p:spPr>
      </p:sp>
      <p:sp>
        <p:nvSpPr>
          <p:cNvPr id="5" name="Shape 3"/>
          <p:cNvSpPr/>
          <p:nvPr/>
        </p:nvSpPr>
        <p:spPr>
          <a:xfrm>
            <a:off x="822960" y="3794760"/>
            <a:ext cx="5120640" cy="2377440"/>
          </a:xfrm>
          <a:prstGeom prst="rect">
            <a:avLst/>
          </a:prstGeom>
          <a:solidFill>
            <a:srgbClr val="F2F3F5"/>
          </a:solidFill>
          <a:ln/>
        </p:spPr>
      </p:sp>
      <p:sp>
        <p:nvSpPr>
          <p:cNvPr id="6" name="Shape 4"/>
          <p:cNvSpPr/>
          <p:nvPr/>
        </p:nvSpPr>
        <p:spPr>
          <a:xfrm>
            <a:off x="6245352" y="3794760"/>
            <a:ext cx="5120640" cy="2377440"/>
          </a:xfrm>
          <a:prstGeom prst="rect">
            <a:avLst/>
          </a:prstGeom>
          <a:solidFill>
            <a:srgbClr val="F2F3F5"/>
          </a:solidFill>
          <a:ln/>
        </p:spPr>
      </p:sp>
      <p:sp>
        <p:nvSpPr>
          <p:cNvPr id="7" name="Text 5"/>
          <p:cNvSpPr/>
          <p:nvPr>
            <p:ph idx="105" type="body" hasCustomPrompt="1"/>
          </p:nvPr>
        </p:nvSpPr>
        <p:spPr>
          <a:xfrm>
            <a:off x="822960" y="566928"/>
            <a:ext cx="7315200" cy="274320"/>
          </a:xfrm>
          <a:prstGeom prst="rect">
            <a:avLst/>
          </a:prstGeom>
          <a:noFill/>
          <a:ln/>
        </p:spPr>
        <p:txBody>
          <a:bodyPr wrap="square" rtlCol="0"/>
          <a:lstStyle>
            <a:lvl1pPr indent="0" marL="0">
              <a:buNone/>
              <a:defRPr lang="en-US" sz="1100" b="1" spc="200" kern="0"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8" name="Text 5"/>
          <p:cNvSpPr/>
          <p:nvPr>
            <p:ph idx="106" type="title" hasCustomPrompt="1"/>
          </p:nvPr>
        </p:nvSpPr>
        <p:spPr>
          <a:xfrm>
            <a:off x="822960" y="896112"/>
            <a:ext cx="10543032" cy="640080"/>
          </a:xfrm>
          <a:prstGeom prst="rect">
            <a:avLst/>
          </a:prstGeom>
          <a:noFill/>
          <a:ln/>
        </p:spPr>
        <p:txBody>
          <a:bodyPr wrap="square" rtlCol="0"/>
          <a:lstStyle>
            <a:lvl1pPr indent="0" marL="0">
              <a:buNone/>
              <a:defRPr lang="en-US" sz="3100" b="1" dirty="0">
                <a:solidFill>
                  <a:srgbClr val="22303C"/>
                </a:solidFill>
                <a:latin typeface="Cambria" pitchFamily="34" charset="0"/>
                <a:ea typeface="Cambria" pitchFamily="34" charset="-122"/>
                <a:cs typeface="Cambria" pitchFamily="34" charset="-120"/>
              </a:defRPr>
            </a:lvl1pPr>
          </a:lstStyle>
          <a:p>
            <a:pPr indent="0" marL="0">
              <a:buNone/>
            </a:pPr>
            <a:endParaRPr lang="en-US" sz="3100" dirty="0"/>
          </a:p>
        </p:txBody>
      </p:sp>
      <p:sp>
        <p:nvSpPr>
          <p:cNvPr id="9" name="Text 5"/>
          <p:cNvSpPr/>
          <p:nvPr>
            <p:ph idx="107" type="body" hasCustomPrompt="1"/>
          </p:nvPr>
        </p:nvSpPr>
        <p:spPr>
          <a:xfrm>
            <a:off x="822960" y="1645920"/>
            <a:ext cx="9966960" cy="457200"/>
          </a:xfrm>
          <a:prstGeom prst="rect">
            <a:avLst/>
          </a:prstGeom>
          <a:noFill/>
          <a:ln/>
        </p:spPr>
        <p:txBody>
          <a:bodyPr wrap="square" rtlCol="0"/>
          <a:lstStyle>
            <a:lvl1pPr indent="0" marL="0">
              <a:lnSpc>
                <a:spcPts val="2000"/>
              </a:lnSpc>
              <a:buNone/>
              <a:defRPr lang="en-US" sz="1500" dirty="0">
                <a:solidFill>
                  <a:srgbClr val="667180"/>
                </a:solidFill>
                <a:latin typeface="Calibri" pitchFamily="34" charset="0"/>
                <a:ea typeface="Calibri" pitchFamily="34" charset="-122"/>
                <a:cs typeface="Calibri" pitchFamily="34" charset="-120"/>
              </a:defRPr>
            </a:lvl1pPr>
          </a:lstStyle>
          <a:p>
            <a:pPr indent="0" marL="0">
              <a:lnSpc>
                <a:spcPts val="2000"/>
              </a:lnSpc>
              <a:buNone/>
            </a:pPr>
            <a:endParaRPr lang="en-US" sz="1500" dirty="0"/>
          </a:p>
        </p:txBody>
      </p:sp>
      <p:sp>
        <p:nvSpPr>
          <p:cNvPr id="10" name="Text 5"/>
          <p:cNvSpPr/>
          <p:nvPr>
            <p:ph idx="108" type="body" hasCustomPrompt="1"/>
          </p:nvPr>
        </p:nvSpPr>
        <p:spPr>
          <a:xfrm>
            <a:off x="1115568" y="2414016"/>
            <a:ext cx="2761488" cy="228600"/>
          </a:xfrm>
          <a:prstGeom prst="rect">
            <a:avLst/>
          </a:prstGeom>
          <a:noFill/>
          <a:ln/>
        </p:spPr>
        <p:txBody>
          <a:bodyPr wrap="square" rtlCol="0"/>
          <a:lstStyle>
            <a:lvl1pPr indent="0" marL="0">
              <a:buNone/>
              <a:defRPr lang="en-US" sz="1100" b="1"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11" name="Text 5"/>
          <p:cNvSpPr/>
          <p:nvPr>
            <p:ph idx="109" type="body" hasCustomPrompt="1"/>
          </p:nvPr>
        </p:nvSpPr>
        <p:spPr>
          <a:xfrm>
            <a:off x="1115568" y="2651760"/>
            <a:ext cx="2761488" cy="292608"/>
          </a:xfrm>
          <a:prstGeom prst="rect">
            <a:avLst/>
          </a:prstGeom>
          <a:noFill/>
          <a:ln/>
        </p:spPr>
        <p:txBody>
          <a:bodyPr wrap="square" rtlCol="0"/>
          <a:lstStyle>
            <a:lvl1pPr indent="0" marL="0">
              <a:buNone/>
              <a:defRPr lang="en-US" sz="1600" b="1" dirty="0">
                <a:solidFill>
                  <a:srgbClr val="22303C"/>
                </a:solidFill>
                <a:latin typeface="Cambria" pitchFamily="34" charset="0"/>
                <a:ea typeface="Cambria" pitchFamily="34" charset="-122"/>
                <a:cs typeface="Cambria" pitchFamily="34" charset="-120"/>
              </a:defRPr>
            </a:lvl1pPr>
          </a:lstStyle>
          <a:p>
            <a:pPr indent="0" marL="0">
              <a:buNone/>
            </a:pPr>
            <a:endParaRPr lang="en-US" sz="1600" dirty="0"/>
          </a:p>
        </p:txBody>
      </p:sp>
      <p:sp>
        <p:nvSpPr>
          <p:cNvPr id="12" name="Text 5"/>
          <p:cNvSpPr/>
          <p:nvPr>
            <p:ph idx="110" type="body" hasCustomPrompt="1"/>
          </p:nvPr>
        </p:nvSpPr>
        <p:spPr>
          <a:xfrm>
            <a:off x="1115568" y="2980944"/>
            <a:ext cx="2761488" cy="457200"/>
          </a:xfrm>
          <a:prstGeom prst="rect">
            <a:avLst/>
          </a:prstGeom>
          <a:noFill/>
          <a:ln/>
        </p:spPr>
        <p:txBody>
          <a:bodyPr wrap="square" rtlCol="0"/>
          <a:lstStyle>
            <a:lvl1pPr indent="0" marL="0">
              <a:lnSpc>
                <a:spcPts val="1500"/>
              </a:lnSpc>
              <a:buNone/>
              <a:defRPr lang="en-US" sz="1200" dirty="0">
                <a:solidFill>
                  <a:srgbClr val="667180"/>
                </a:solidFill>
                <a:latin typeface="Calibri" pitchFamily="34" charset="0"/>
                <a:ea typeface="Calibri" pitchFamily="34" charset="-122"/>
                <a:cs typeface="Calibri" pitchFamily="34" charset="-120"/>
              </a:defRPr>
            </a:lvl1pPr>
          </a:lstStyle>
          <a:p>
            <a:pPr indent="0" marL="0">
              <a:lnSpc>
                <a:spcPts val="1500"/>
              </a:lnSpc>
              <a:buNone/>
            </a:pPr>
            <a:endParaRPr lang="en-US" sz="1200" dirty="0"/>
          </a:p>
        </p:txBody>
      </p:sp>
      <p:sp>
        <p:nvSpPr>
          <p:cNvPr id="13" name="Text 5"/>
          <p:cNvSpPr/>
          <p:nvPr>
            <p:ph idx="111" type="body" hasCustomPrompt="1"/>
          </p:nvPr>
        </p:nvSpPr>
        <p:spPr>
          <a:xfrm>
            <a:off x="4713732" y="2414016"/>
            <a:ext cx="2761488" cy="228600"/>
          </a:xfrm>
          <a:prstGeom prst="rect">
            <a:avLst/>
          </a:prstGeom>
          <a:noFill/>
          <a:ln/>
        </p:spPr>
        <p:txBody>
          <a:bodyPr wrap="square" rtlCol="0"/>
          <a:lstStyle>
            <a:lvl1pPr indent="0" marL="0">
              <a:buNone/>
              <a:defRPr lang="en-US" sz="1100" b="1"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14" name="Text 5"/>
          <p:cNvSpPr/>
          <p:nvPr>
            <p:ph idx="112" type="body" hasCustomPrompt="1"/>
          </p:nvPr>
        </p:nvSpPr>
        <p:spPr>
          <a:xfrm>
            <a:off x="4713732" y="2651760"/>
            <a:ext cx="2761488" cy="292608"/>
          </a:xfrm>
          <a:prstGeom prst="rect">
            <a:avLst/>
          </a:prstGeom>
          <a:noFill/>
          <a:ln/>
        </p:spPr>
        <p:txBody>
          <a:bodyPr wrap="square" rtlCol="0"/>
          <a:lstStyle>
            <a:lvl1pPr indent="0" marL="0">
              <a:buNone/>
              <a:defRPr lang="en-US" sz="1600" b="1" dirty="0">
                <a:solidFill>
                  <a:srgbClr val="22303C"/>
                </a:solidFill>
                <a:latin typeface="Cambria" pitchFamily="34" charset="0"/>
                <a:ea typeface="Cambria" pitchFamily="34" charset="-122"/>
                <a:cs typeface="Cambria" pitchFamily="34" charset="-120"/>
              </a:defRPr>
            </a:lvl1pPr>
          </a:lstStyle>
          <a:p>
            <a:pPr indent="0" marL="0">
              <a:buNone/>
            </a:pPr>
            <a:endParaRPr lang="en-US" sz="1600" dirty="0"/>
          </a:p>
        </p:txBody>
      </p:sp>
      <p:sp>
        <p:nvSpPr>
          <p:cNvPr id="15" name="Text 5"/>
          <p:cNvSpPr/>
          <p:nvPr>
            <p:ph idx="113" type="body" hasCustomPrompt="1"/>
          </p:nvPr>
        </p:nvSpPr>
        <p:spPr>
          <a:xfrm>
            <a:off x="4713732" y="2980944"/>
            <a:ext cx="2761488" cy="457200"/>
          </a:xfrm>
          <a:prstGeom prst="rect">
            <a:avLst/>
          </a:prstGeom>
          <a:noFill/>
          <a:ln/>
        </p:spPr>
        <p:txBody>
          <a:bodyPr wrap="square" rtlCol="0"/>
          <a:lstStyle>
            <a:lvl1pPr indent="0" marL="0">
              <a:lnSpc>
                <a:spcPts val="1500"/>
              </a:lnSpc>
              <a:buNone/>
              <a:defRPr lang="en-US" sz="1200" dirty="0">
                <a:solidFill>
                  <a:srgbClr val="667180"/>
                </a:solidFill>
                <a:latin typeface="Calibri" pitchFamily="34" charset="0"/>
                <a:ea typeface="Calibri" pitchFamily="34" charset="-122"/>
                <a:cs typeface="Calibri" pitchFamily="34" charset="-120"/>
              </a:defRPr>
            </a:lvl1pPr>
          </a:lstStyle>
          <a:p>
            <a:pPr indent="0" marL="0">
              <a:lnSpc>
                <a:spcPts val="1500"/>
              </a:lnSpc>
              <a:buNone/>
            </a:pPr>
            <a:endParaRPr lang="en-US" sz="1200" dirty="0"/>
          </a:p>
        </p:txBody>
      </p:sp>
      <p:sp>
        <p:nvSpPr>
          <p:cNvPr id="16" name="Text 5"/>
          <p:cNvSpPr/>
          <p:nvPr>
            <p:ph idx="114" type="body" hasCustomPrompt="1"/>
          </p:nvPr>
        </p:nvSpPr>
        <p:spPr>
          <a:xfrm>
            <a:off x="8311896" y="2414016"/>
            <a:ext cx="2761488" cy="228600"/>
          </a:xfrm>
          <a:prstGeom prst="rect">
            <a:avLst/>
          </a:prstGeom>
          <a:noFill/>
          <a:ln/>
        </p:spPr>
        <p:txBody>
          <a:bodyPr wrap="square" rtlCol="0"/>
          <a:lstStyle>
            <a:lvl1pPr indent="0" marL="0">
              <a:buNone/>
              <a:defRPr lang="en-US" sz="1100" b="1"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17" name="Text 5"/>
          <p:cNvSpPr/>
          <p:nvPr>
            <p:ph idx="115" type="body" hasCustomPrompt="1"/>
          </p:nvPr>
        </p:nvSpPr>
        <p:spPr>
          <a:xfrm>
            <a:off x="8311896" y="2651760"/>
            <a:ext cx="2761488" cy="292608"/>
          </a:xfrm>
          <a:prstGeom prst="rect">
            <a:avLst/>
          </a:prstGeom>
          <a:noFill/>
          <a:ln/>
        </p:spPr>
        <p:txBody>
          <a:bodyPr wrap="square" rtlCol="0"/>
          <a:lstStyle>
            <a:lvl1pPr indent="0" marL="0">
              <a:buNone/>
              <a:defRPr lang="en-US" sz="1600" b="1" dirty="0">
                <a:solidFill>
                  <a:srgbClr val="22303C"/>
                </a:solidFill>
                <a:latin typeface="Cambria" pitchFamily="34" charset="0"/>
                <a:ea typeface="Cambria" pitchFamily="34" charset="-122"/>
                <a:cs typeface="Cambria" pitchFamily="34" charset="-120"/>
              </a:defRPr>
            </a:lvl1pPr>
          </a:lstStyle>
          <a:p>
            <a:pPr indent="0" marL="0">
              <a:buNone/>
            </a:pPr>
            <a:endParaRPr lang="en-US" sz="1600" dirty="0"/>
          </a:p>
        </p:txBody>
      </p:sp>
      <p:sp>
        <p:nvSpPr>
          <p:cNvPr id="18" name="Text 5"/>
          <p:cNvSpPr/>
          <p:nvPr>
            <p:ph idx="116" type="body" hasCustomPrompt="1"/>
          </p:nvPr>
        </p:nvSpPr>
        <p:spPr>
          <a:xfrm>
            <a:off x="8311896" y="2980944"/>
            <a:ext cx="2761488" cy="457200"/>
          </a:xfrm>
          <a:prstGeom prst="rect">
            <a:avLst/>
          </a:prstGeom>
          <a:noFill/>
          <a:ln/>
        </p:spPr>
        <p:txBody>
          <a:bodyPr wrap="square" rtlCol="0"/>
          <a:lstStyle>
            <a:lvl1pPr indent="0" marL="0">
              <a:lnSpc>
                <a:spcPts val="1500"/>
              </a:lnSpc>
              <a:buNone/>
              <a:defRPr lang="en-US" sz="1200" dirty="0">
                <a:solidFill>
                  <a:srgbClr val="667180"/>
                </a:solidFill>
                <a:latin typeface="Calibri" pitchFamily="34" charset="0"/>
                <a:ea typeface="Calibri" pitchFamily="34" charset="-122"/>
                <a:cs typeface="Calibri" pitchFamily="34" charset="-120"/>
              </a:defRPr>
            </a:lvl1pPr>
          </a:lstStyle>
          <a:p>
            <a:pPr indent="0" marL="0">
              <a:lnSpc>
                <a:spcPts val="1500"/>
              </a:lnSpc>
              <a:buNone/>
            </a:pPr>
            <a:endParaRPr lang="en-US" sz="1200" dirty="0"/>
          </a:p>
        </p:txBody>
      </p:sp>
      <p:sp>
        <p:nvSpPr>
          <p:cNvPr id="19" name="Text 5"/>
          <p:cNvSpPr/>
          <p:nvPr>
            <p:ph idx="117" type="body" hasCustomPrompt="1"/>
          </p:nvPr>
        </p:nvSpPr>
        <p:spPr>
          <a:xfrm>
            <a:off x="1115568" y="3995928"/>
            <a:ext cx="4535424" cy="320040"/>
          </a:xfrm>
          <a:prstGeom prst="rect">
            <a:avLst/>
          </a:prstGeom>
          <a:noFill/>
          <a:ln/>
        </p:spPr>
        <p:txBody>
          <a:bodyPr wrap="square" rtlCol="0"/>
          <a:lstStyle>
            <a:lvl1pPr indent="0" marL="0">
              <a:buNone/>
              <a:defRPr lang="en-US" sz="1650" b="1" dirty="0">
                <a:solidFill>
                  <a:srgbClr val="9A3B2C"/>
                </a:solidFill>
                <a:latin typeface="Cambria" pitchFamily="34" charset="0"/>
                <a:ea typeface="Cambria" pitchFamily="34" charset="-122"/>
                <a:cs typeface="Cambria" pitchFamily="34" charset="-120"/>
              </a:defRPr>
            </a:lvl1pPr>
          </a:lstStyle>
          <a:p>
            <a:pPr indent="0" marL="0">
              <a:buNone/>
            </a:pPr>
            <a:endParaRPr lang="en-US" sz="1650" dirty="0"/>
          </a:p>
        </p:txBody>
      </p:sp>
      <p:sp>
        <p:nvSpPr>
          <p:cNvPr id="20" name="Text 5"/>
          <p:cNvSpPr/>
          <p:nvPr>
            <p:ph idx="118" type="body" hasCustomPrompt="1"/>
          </p:nvPr>
        </p:nvSpPr>
        <p:spPr>
          <a:xfrm>
            <a:off x="1115568" y="4434840"/>
            <a:ext cx="4535424" cy="1554480"/>
          </a:xfrm>
          <a:prstGeom prst="rect">
            <a:avLst/>
          </a:prstGeom>
          <a:noFill/>
          <a:ln/>
        </p:spPr>
        <p:txBody>
          <a:bodyPr wrap="square" rtlCol="0"/>
          <a:lstStyle>
            <a:lvl1pPr indent="0" marL="0">
              <a:lnSpc>
                <a:spcPts val="1700"/>
              </a:lnSpc>
              <a:spcAft>
                <a:spcPts val="800"/>
              </a:spcAft>
              <a:buNone/>
              <a:defRPr lang="en-US" sz="1250" dirty="0">
                <a:solidFill>
                  <a:srgbClr val="22303C"/>
                </a:solidFill>
                <a:latin typeface="Calibri" pitchFamily="34" charset="0"/>
                <a:ea typeface="Calibri" pitchFamily="34" charset="-122"/>
                <a:cs typeface="Calibri" pitchFamily="34" charset="-120"/>
              </a:defRPr>
            </a:lvl1pPr>
          </a:lstStyle>
          <a:p>
            <a:pPr indent="0" marL="0">
              <a:lnSpc>
                <a:spcPts val="1700"/>
              </a:lnSpc>
              <a:spcAft>
                <a:spcPts val="800"/>
              </a:spcAft>
              <a:buNone/>
            </a:pPr>
            <a:endParaRPr lang="en-US" sz="1250" dirty="0"/>
          </a:p>
        </p:txBody>
      </p:sp>
      <p:sp>
        <p:nvSpPr>
          <p:cNvPr id="21" name="Text 5"/>
          <p:cNvSpPr/>
          <p:nvPr>
            <p:ph idx="119" type="body" hasCustomPrompt="1"/>
          </p:nvPr>
        </p:nvSpPr>
        <p:spPr>
          <a:xfrm>
            <a:off x="6537960" y="3995928"/>
            <a:ext cx="4535424" cy="320040"/>
          </a:xfrm>
          <a:prstGeom prst="rect">
            <a:avLst/>
          </a:prstGeom>
          <a:noFill/>
          <a:ln/>
        </p:spPr>
        <p:txBody>
          <a:bodyPr wrap="square" rtlCol="0"/>
          <a:lstStyle>
            <a:lvl1pPr indent="0" marL="0">
              <a:buNone/>
              <a:defRPr lang="en-US" sz="1650" b="1" dirty="0">
                <a:solidFill>
                  <a:srgbClr val="9A3B2C"/>
                </a:solidFill>
                <a:latin typeface="Cambria" pitchFamily="34" charset="0"/>
                <a:ea typeface="Cambria" pitchFamily="34" charset="-122"/>
                <a:cs typeface="Cambria" pitchFamily="34" charset="-120"/>
              </a:defRPr>
            </a:lvl1pPr>
          </a:lstStyle>
          <a:p>
            <a:pPr indent="0" marL="0">
              <a:buNone/>
            </a:pPr>
            <a:endParaRPr lang="en-US" sz="1650" dirty="0"/>
          </a:p>
        </p:txBody>
      </p:sp>
      <p:sp>
        <p:nvSpPr>
          <p:cNvPr id="22" name="Text 5"/>
          <p:cNvSpPr/>
          <p:nvPr>
            <p:ph idx="120" type="body" hasCustomPrompt="1"/>
          </p:nvPr>
        </p:nvSpPr>
        <p:spPr>
          <a:xfrm>
            <a:off x="6537960" y="4434840"/>
            <a:ext cx="4535424" cy="1554480"/>
          </a:xfrm>
          <a:prstGeom prst="rect">
            <a:avLst/>
          </a:prstGeom>
          <a:noFill/>
          <a:ln/>
        </p:spPr>
        <p:txBody>
          <a:bodyPr wrap="square" rtlCol="0"/>
          <a:lstStyle>
            <a:lvl1pPr indent="0" marL="0">
              <a:lnSpc>
                <a:spcPts val="1700"/>
              </a:lnSpc>
              <a:spcAft>
                <a:spcPts val="800"/>
              </a:spcAft>
              <a:buNone/>
              <a:defRPr lang="en-US" sz="1250" dirty="0">
                <a:solidFill>
                  <a:srgbClr val="22303C"/>
                </a:solidFill>
                <a:latin typeface="Calibri" pitchFamily="34" charset="0"/>
                <a:ea typeface="Calibri" pitchFamily="34" charset="-122"/>
                <a:cs typeface="Calibri" pitchFamily="34" charset="-120"/>
              </a:defRPr>
            </a:lvl1pPr>
          </a:lstStyle>
          <a:p>
            <a:pPr indent="0" marL="0">
              <a:lnSpc>
                <a:spcPts val="1700"/>
              </a:lnSpc>
              <a:spcAft>
                <a:spcPts val="800"/>
              </a:spcAft>
              <a:buNone/>
            </a:pPr>
            <a:endParaRPr lang="en-US" sz="12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ULL_PANE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2286000"/>
            <a:ext cx="10543032" cy="3291840"/>
          </a:xfrm>
          <a:prstGeom prst="rect">
            <a:avLst/>
          </a:prstGeom>
          <a:solidFill>
            <a:srgbClr val="F2F3F5"/>
          </a:solidFill>
          <a:ln/>
        </p:spPr>
      </p:sp>
      <p:sp>
        <p:nvSpPr>
          <p:cNvPr id="3" name="Text 1"/>
          <p:cNvSpPr/>
          <p:nvPr>
            <p:ph idx="101" type="body" hasCustomPrompt="1"/>
          </p:nvPr>
        </p:nvSpPr>
        <p:spPr>
          <a:xfrm>
            <a:off x="822960" y="566928"/>
            <a:ext cx="7315200" cy="274320"/>
          </a:xfrm>
          <a:prstGeom prst="rect">
            <a:avLst/>
          </a:prstGeom>
          <a:noFill/>
          <a:ln/>
        </p:spPr>
        <p:txBody>
          <a:bodyPr wrap="square" rtlCol="0"/>
          <a:lstStyle>
            <a:lvl1pPr indent="0" marL="0">
              <a:buNone/>
              <a:defRPr lang="en-US" sz="1100" b="1" spc="200" kern="0"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4" name="Text 1"/>
          <p:cNvSpPr/>
          <p:nvPr>
            <p:ph idx="102" type="title" hasCustomPrompt="1"/>
          </p:nvPr>
        </p:nvSpPr>
        <p:spPr>
          <a:xfrm>
            <a:off x="822960" y="896112"/>
            <a:ext cx="10543032" cy="640080"/>
          </a:xfrm>
          <a:prstGeom prst="rect">
            <a:avLst/>
          </a:prstGeom>
          <a:noFill/>
          <a:ln/>
        </p:spPr>
        <p:txBody>
          <a:bodyPr wrap="square" rtlCol="0"/>
          <a:lstStyle>
            <a:lvl1pPr indent="0" marL="0">
              <a:buNone/>
              <a:defRPr lang="en-US" sz="3100" b="1" dirty="0">
                <a:solidFill>
                  <a:srgbClr val="22303C"/>
                </a:solidFill>
                <a:latin typeface="Cambria" pitchFamily="34" charset="0"/>
                <a:ea typeface="Cambria" pitchFamily="34" charset="-122"/>
                <a:cs typeface="Cambria" pitchFamily="34" charset="-120"/>
              </a:defRPr>
            </a:lvl1pPr>
          </a:lstStyle>
          <a:p>
            <a:pPr indent="0" marL="0">
              <a:buNone/>
            </a:pPr>
            <a:endParaRPr lang="en-US" sz="3100" dirty="0"/>
          </a:p>
        </p:txBody>
      </p:sp>
      <p:sp>
        <p:nvSpPr>
          <p:cNvPr id="5" name="Text 1"/>
          <p:cNvSpPr/>
          <p:nvPr>
            <p:ph idx="103" type="body" hasCustomPrompt="1"/>
          </p:nvPr>
        </p:nvSpPr>
        <p:spPr>
          <a:xfrm>
            <a:off x="822960" y="1645920"/>
            <a:ext cx="9966960" cy="457200"/>
          </a:xfrm>
          <a:prstGeom prst="rect">
            <a:avLst/>
          </a:prstGeom>
          <a:noFill/>
          <a:ln/>
        </p:spPr>
        <p:txBody>
          <a:bodyPr wrap="square" rtlCol="0"/>
          <a:lstStyle>
            <a:lvl1pPr indent="0" marL="0">
              <a:lnSpc>
                <a:spcPts val="2000"/>
              </a:lnSpc>
              <a:buNone/>
              <a:defRPr lang="en-US" sz="1500" dirty="0">
                <a:solidFill>
                  <a:srgbClr val="667180"/>
                </a:solidFill>
                <a:latin typeface="Calibri" pitchFamily="34" charset="0"/>
                <a:ea typeface="Calibri" pitchFamily="34" charset="-122"/>
                <a:cs typeface="Calibri" pitchFamily="34" charset="-120"/>
              </a:defRPr>
            </a:lvl1pPr>
          </a:lstStyle>
          <a:p>
            <a:pPr indent="0" marL="0">
              <a:lnSpc>
                <a:spcPts val="2000"/>
              </a:lnSpc>
              <a:buNone/>
            </a:pPr>
            <a:endParaRPr lang="en-US" sz="1500" dirty="0"/>
          </a:p>
        </p:txBody>
      </p:sp>
      <p:sp>
        <p:nvSpPr>
          <p:cNvPr id="6" name="Text 1"/>
          <p:cNvSpPr/>
          <p:nvPr>
            <p:ph idx="104" type="body" hasCustomPrompt="1"/>
          </p:nvPr>
        </p:nvSpPr>
        <p:spPr>
          <a:xfrm>
            <a:off x="1115568" y="2560320"/>
            <a:ext cx="9957816" cy="2834640"/>
          </a:xfrm>
          <a:prstGeom prst="rect">
            <a:avLst/>
          </a:prstGeom>
          <a:noFill/>
          <a:ln/>
        </p:spPr>
        <p:txBody>
          <a:bodyPr wrap="square" rtlCol="0"/>
          <a:lstStyle>
            <a:lvl1pPr indent="0" marL="0">
              <a:lnSpc>
                <a:spcPts val="1700"/>
              </a:lnSpc>
              <a:spcAft>
                <a:spcPts val="800"/>
              </a:spcAft>
              <a:buNone/>
              <a:defRPr lang="en-US" sz="1300" dirty="0">
                <a:solidFill>
                  <a:srgbClr val="22303C"/>
                </a:solidFill>
                <a:latin typeface="Calibri" pitchFamily="34" charset="0"/>
                <a:ea typeface="Calibri" pitchFamily="34" charset="-122"/>
                <a:cs typeface="Calibri" pitchFamily="34" charset="-120"/>
              </a:defRPr>
            </a:lvl1pPr>
          </a:lstStyle>
          <a:p>
            <a:pPr indent="0" marL="0">
              <a:lnSpc>
                <a:spcPts val="1700"/>
              </a:lnSpc>
              <a:spcAft>
                <a:spcPts val="800"/>
              </a:spcAft>
              <a:buNone/>
            </a:pPr>
            <a:endParaRPr lang="en-US" sz="13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ABLE_NOTE">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566928"/>
            <a:ext cx="7315200" cy="274320"/>
          </a:xfrm>
          <a:prstGeom prst="rect">
            <a:avLst/>
          </a:prstGeom>
          <a:noFill/>
          <a:ln/>
        </p:spPr>
        <p:txBody>
          <a:bodyPr wrap="square" rtlCol="0"/>
          <a:lstStyle>
            <a:lvl1pPr indent="0" marL="0">
              <a:buNone/>
              <a:defRPr lang="en-US" sz="1100" b="1" spc="200" kern="0"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822960" y="896112"/>
            <a:ext cx="10543032" cy="640080"/>
          </a:xfrm>
          <a:prstGeom prst="rect">
            <a:avLst/>
          </a:prstGeom>
          <a:noFill/>
          <a:ln/>
        </p:spPr>
        <p:txBody>
          <a:bodyPr wrap="square" rtlCol="0"/>
          <a:lstStyle>
            <a:lvl1pPr indent="0" marL="0">
              <a:buNone/>
              <a:defRPr lang="en-US" sz="3100" b="1" dirty="0">
                <a:solidFill>
                  <a:srgbClr val="22303C"/>
                </a:solidFill>
                <a:latin typeface="Cambria" pitchFamily="34" charset="0"/>
                <a:ea typeface="Cambria" pitchFamily="34" charset="-122"/>
                <a:cs typeface="Cambria" pitchFamily="34" charset="-120"/>
              </a:defRPr>
            </a:lvl1pPr>
          </a:lstStyle>
          <a:p>
            <a:pPr indent="0" marL="0">
              <a:buNone/>
            </a:pPr>
            <a:endParaRPr lang="en-US" sz="3100" dirty="0"/>
          </a:p>
        </p:txBody>
      </p:sp>
      <p:sp>
        <p:nvSpPr>
          <p:cNvPr id="4" name="Text 0"/>
          <p:cNvSpPr/>
          <p:nvPr>
            <p:ph idx="102" type="body" hasCustomPrompt="1"/>
          </p:nvPr>
        </p:nvSpPr>
        <p:spPr>
          <a:xfrm>
            <a:off x="822960" y="1645920"/>
            <a:ext cx="9966960" cy="457200"/>
          </a:xfrm>
          <a:prstGeom prst="rect">
            <a:avLst/>
          </a:prstGeom>
          <a:noFill/>
          <a:ln/>
        </p:spPr>
        <p:txBody>
          <a:bodyPr wrap="square" rtlCol="0"/>
          <a:lstStyle>
            <a:lvl1pPr indent="0" marL="0">
              <a:lnSpc>
                <a:spcPts val="2000"/>
              </a:lnSpc>
              <a:buNone/>
              <a:defRPr lang="en-US" sz="1500" dirty="0">
                <a:solidFill>
                  <a:srgbClr val="667180"/>
                </a:solidFill>
                <a:latin typeface="Calibri" pitchFamily="34" charset="0"/>
                <a:ea typeface="Calibri" pitchFamily="34" charset="-122"/>
                <a:cs typeface="Calibri" pitchFamily="34" charset="-120"/>
              </a:defRPr>
            </a:lvl1pPr>
          </a:lstStyle>
          <a:p>
            <a:pPr indent="0" marL="0">
              <a:lnSpc>
                <a:spcPts val="2000"/>
              </a:lnSpc>
              <a:buNone/>
            </a:pPr>
            <a:endParaRPr lang="en-US" sz="1500" dirty="0"/>
          </a:p>
        </p:txBody>
      </p:sp>
      <p:sp>
        <p:nvSpPr>
          <p:cNvPr id="5" name="Text 0"/>
          <p:cNvSpPr/>
          <p:nvPr>
            <p:ph idx="103" type="body" hasCustomPrompt="1"/>
          </p:nvPr>
        </p:nvSpPr>
        <p:spPr>
          <a:xfrm>
            <a:off x="822960" y="4480560"/>
            <a:ext cx="10543032" cy="640080"/>
          </a:xfrm>
          <a:prstGeom prst="rect">
            <a:avLst/>
          </a:prstGeom>
          <a:noFill/>
          <a:ln/>
        </p:spPr>
        <p:txBody>
          <a:bodyPr wrap="square" rtlCol="0"/>
          <a:lstStyle>
            <a:lvl1pPr indent="0" marL="0">
              <a:lnSpc>
                <a:spcPts val="1700"/>
              </a:lnSpc>
              <a:buNone/>
              <a:defRPr lang="en-US" sz="1250" dirty="0">
                <a:solidFill>
                  <a:srgbClr val="22303C"/>
                </a:solidFill>
                <a:latin typeface="Calibri" pitchFamily="34" charset="0"/>
                <a:ea typeface="Calibri" pitchFamily="34" charset="-122"/>
                <a:cs typeface="Calibri" pitchFamily="34" charset="-120"/>
              </a:defRPr>
            </a:lvl1pPr>
          </a:lstStyle>
          <a:p>
            <a:pPr indent="0" marL="0">
              <a:lnSpc>
                <a:spcPts val="1700"/>
              </a:lnSpc>
              <a:buNone/>
            </a:pPr>
            <a:endParaRPr lang="en-US" sz="12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ST_TAB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2286000"/>
            <a:ext cx="5120640" cy="914400"/>
          </a:xfrm>
          <a:prstGeom prst="rect">
            <a:avLst/>
          </a:prstGeom>
          <a:solidFill>
            <a:srgbClr val="F2F3F5"/>
          </a:solidFill>
          <a:ln/>
        </p:spPr>
      </p:sp>
      <p:sp>
        <p:nvSpPr>
          <p:cNvPr id="3" name="Shape 1"/>
          <p:cNvSpPr/>
          <p:nvPr/>
        </p:nvSpPr>
        <p:spPr>
          <a:xfrm>
            <a:off x="6245352" y="2286000"/>
            <a:ext cx="5120640" cy="914400"/>
          </a:xfrm>
          <a:prstGeom prst="rect">
            <a:avLst/>
          </a:prstGeom>
          <a:solidFill>
            <a:srgbClr val="F2F3F5"/>
          </a:solidFill>
          <a:ln/>
        </p:spPr>
      </p:sp>
      <p:sp>
        <p:nvSpPr>
          <p:cNvPr id="4" name="Text 2"/>
          <p:cNvSpPr/>
          <p:nvPr>
            <p:ph idx="102" type="body" hasCustomPrompt="1"/>
          </p:nvPr>
        </p:nvSpPr>
        <p:spPr>
          <a:xfrm>
            <a:off x="822960" y="566928"/>
            <a:ext cx="7315200" cy="274320"/>
          </a:xfrm>
          <a:prstGeom prst="rect">
            <a:avLst/>
          </a:prstGeom>
          <a:noFill/>
          <a:ln/>
        </p:spPr>
        <p:txBody>
          <a:bodyPr wrap="square" rtlCol="0"/>
          <a:lstStyle>
            <a:lvl1pPr indent="0" marL="0">
              <a:buNone/>
              <a:defRPr lang="en-US" sz="1100" b="1" spc="200" kern="0"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5" name="Text 2"/>
          <p:cNvSpPr/>
          <p:nvPr>
            <p:ph idx="103" type="title" hasCustomPrompt="1"/>
          </p:nvPr>
        </p:nvSpPr>
        <p:spPr>
          <a:xfrm>
            <a:off x="822960" y="896112"/>
            <a:ext cx="10543032" cy="640080"/>
          </a:xfrm>
          <a:prstGeom prst="rect">
            <a:avLst/>
          </a:prstGeom>
          <a:noFill/>
          <a:ln/>
        </p:spPr>
        <p:txBody>
          <a:bodyPr wrap="square" rtlCol="0"/>
          <a:lstStyle>
            <a:lvl1pPr indent="0" marL="0">
              <a:buNone/>
              <a:defRPr lang="en-US" sz="3100" b="1" dirty="0">
                <a:solidFill>
                  <a:srgbClr val="22303C"/>
                </a:solidFill>
                <a:latin typeface="Cambria" pitchFamily="34" charset="0"/>
                <a:ea typeface="Cambria" pitchFamily="34" charset="-122"/>
                <a:cs typeface="Cambria" pitchFamily="34" charset="-120"/>
              </a:defRPr>
            </a:lvl1pPr>
          </a:lstStyle>
          <a:p>
            <a:pPr indent="0" marL="0">
              <a:buNone/>
            </a:pPr>
            <a:endParaRPr lang="en-US" sz="3100" dirty="0"/>
          </a:p>
        </p:txBody>
      </p:sp>
      <p:sp>
        <p:nvSpPr>
          <p:cNvPr id="6" name="Text 2"/>
          <p:cNvSpPr/>
          <p:nvPr>
            <p:ph idx="104" type="body" hasCustomPrompt="1"/>
          </p:nvPr>
        </p:nvSpPr>
        <p:spPr>
          <a:xfrm>
            <a:off x="822960" y="1645920"/>
            <a:ext cx="9966960" cy="457200"/>
          </a:xfrm>
          <a:prstGeom prst="rect">
            <a:avLst/>
          </a:prstGeom>
          <a:noFill/>
          <a:ln/>
        </p:spPr>
        <p:txBody>
          <a:bodyPr wrap="square" rtlCol="0"/>
          <a:lstStyle>
            <a:lvl1pPr indent="0" marL="0">
              <a:lnSpc>
                <a:spcPts val="2000"/>
              </a:lnSpc>
              <a:buNone/>
              <a:defRPr lang="en-US" sz="1500" dirty="0">
                <a:solidFill>
                  <a:srgbClr val="667180"/>
                </a:solidFill>
                <a:latin typeface="Calibri" pitchFamily="34" charset="0"/>
                <a:ea typeface="Calibri" pitchFamily="34" charset="-122"/>
                <a:cs typeface="Calibri" pitchFamily="34" charset="-120"/>
              </a:defRPr>
            </a:lvl1pPr>
          </a:lstStyle>
          <a:p>
            <a:pPr indent="0" marL="0">
              <a:lnSpc>
                <a:spcPts val="2000"/>
              </a:lnSpc>
              <a:buNone/>
            </a:pPr>
            <a:endParaRPr lang="en-US" sz="1500" dirty="0"/>
          </a:p>
        </p:txBody>
      </p:sp>
      <p:sp>
        <p:nvSpPr>
          <p:cNvPr id="7" name="Text 2"/>
          <p:cNvSpPr/>
          <p:nvPr>
            <p:ph idx="105" type="body" hasCustomPrompt="1"/>
          </p:nvPr>
        </p:nvSpPr>
        <p:spPr>
          <a:xfrm>
            <a:off x="1115568" y="2441448"/>
            <a:ext cx="4535424" cy="274320"/>
          </a:xfrm>
          <a:prstGeom prst="rect">
            <a:avLst/>
          </a:prstGeom>
          <a:noFill/>
          <a:ln/>
        </p:spPr>
        <p:txBody>
          <a:bodyPr wrap="square" rtlCol="0"/>
          <a:lstStyle>
            <a:lvl1pPr indent="0" marL="0">
              <a:buNone/>
              <a:defRPr lang="en-US" sz="1250" dirty="0">
                <a:solidFill>
                  <a:srgbClr val="22303C"/>
                </a:solidFill>
                <a:latin typeface="Consolas" pitchFamily="34" charset="0"/>
                <a:ea typeface="Consolas" pitchFamily="34" charset="-122"/>
                <a:cs typeface="Consolas" pitchFamily="34" charset="-120"/>
              </a:defRPr>
            </a:lvl1pPr>
          </a:lstStyle>
          <a:p>
            <a:pPr indent="0" marL="0">
              <a:buNone/>
            </a:pPr>
            <a:endParaRPr lang="en-US" sz="1250" dirty="0"/>
          </a:p>
        </p:txBody>
      </p:sp>
      <p:sp>
        <p:nvSpPr>
          <p:cNvPr id="8" name="Text 2"/>
          <p:cNvSpPr/>
          <p:nvPr>
            <p:ph idx="106" type="body" hasCustomPrompt="1"/>
          </p:nvPr>
        </p:nvSpPr>
        <p:spPr>
          <a:xfrm>
            <a:off x="1115568" y="2743200"/>
            <a:ext cx="4535424" cy="274320"/>
          </a:xfrm>
          <a:prstGeom prst="rect">
            <a:avLst/>
          </a:prstGeom>
          <a:noFill/>
          <a:ln/>
        </p:spPr>
        <p:txBody>
          <a:bodyPr wrap="square" rtlCol="0"/>
          <a:lstStyle>
            <a:lvl1pPr indent="0" marL="0">
              <a:buNone/>
              <a:defRPr lang="en-US" sz="1200" dirty="0">
                <a:solidFill>
                  <a:srgbClr val="667180"/>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9" name="Text 2"/>
          <p:cNvSpPr/>
          <p:nvPr>
            <p:ph idx="107" type="body" hasCustomPrompt="1"/>
          </p:nvPr>
        </p:nvSpPr>
        <p:spPr>
          <a:xfrm>
            <a:off x="6537960" y="2441448"/>
            <a:ext cx="4535424" cy="274320"/>
          </a:xfrm>
          <a:prstGeom prst="rect">
            <a:avLst/>
          </a:prstGeom>
          <a:noFill/>
          <a:ln/>
        </p:spPr>
        <p:txBody>
          <a:bodyPr wrap="square" rtlCol="0"/>
          <a:lstStyle>
            <a:lvl1pPr indent="0" marL="0">
              <a:buNone/>
              <a:defRPr lang="en-US" sz="1250" dirty="0">
                <a:solidFill>
                  <a:srgbClr val="22303C"/>
                </a:solidFill>
                <a:latin typeface="Consolas" pitchFamily="34" charset="0"/>
                <a:ea typeface="Consolas" pitchFamily="34" charset="-122"/>
                <a:cs typeface="Consolas" pitchFamily="34" charset="-120"/>
              </a:defRPr>
            </a:lvl1pPr>
          </a:lstStyle>
          <a:p>
            <a:pPr indent="0" marL="0">
              <a:buNone/>
            </a:pPr>
            <a:endParaRPr lang="en-US" sz="1250" dirty="0"/>
          </a:p>
        </p:txBody>
      </p:sp>
      <p:sp>
        <p:nvSpPr>
          <p:cNvPr id="10" name="Text 2"/>
          <p:cNvSpPr/>
          <p:nvPr>
            <p:ph idx="108" type="body" hasCustomPrompt="1"/>
          </p:nvPr>
        </p:nvSpPr>
        <p:spPr>
          <a:xfrm>
            <a:off x="6537960" y="2743200"/>
            <a:ext cx="4535424" cy="274320"/>
          </a:xfrm>
          <a:prstGeom prst="rect">
            <a:avLst/>
          </a:prstGeom>
          <a:noFill/>
          <a:ln/>
        </p:spPr>
        <p:txBody>
          <a:bodyPr wrap="square" rtlCol="0"/>
          <a:lstStyle>
            <a:lvl1pPr indent="0" marL="0">
              <a:buNone/>
              <a:defRPr lang="en-US" sz="1200" dirty="0">
                <a:solidFill>
                  <a:srgbClr val="667180"/>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11" name="Text 2"/>
          <p:cNvSpPr/>
          <p:nvPr>
            <p:ph idx="109" type="body" hasCustomPrompt="1"/>
          </p:nvPr>
        </p:nvSpPr>
        <p:spPr>
          <a:xfrm>
            <a:off x="822960" y="5577840"/>
            <a:ext cx="10543032" cy="685800"/>
          </a:xfrm>
          <a:prstGeom prst="rect">
            <a:avLst/>
          </a:prstGeom>
          <a:noFill/>
          <a:ln/>
        </p:spPr>
        <p:txBody>
          <a:bodyPr wrap="square" rtlCol="0"/>
          <a:lstStyle>
            <a:lvl1pPr indent="0" marL="0">
              <a:lnSpc>
                <a:spcPts val="1600"/>
              </a:lnSpc>
              <a:buNone/>
              <a:defRPr lang="en-US" sz="1200" dirty="0">
                <a:solidFill>
                  <a:srgbClr val="667180"/>
                </a:solidFill>
                <a:latin typeface="Calibri" pitchFamily="34" charset="0"/>
                <a:ea typeface="Calibri" pitchFamily="34" charset="-122"/>
                <a:cs typeface="Calibri" pitchFamily="34" charset="-120"/>
              </a:defRPr>
            </a:lvl1pPr>
          </a:lstStyle>
          <a:p>
            <a:pPr indent="0" marL="0">
              <a:lnSpc>
                <a:spcPts val="1600"/>
              </a:lnSpc>
              <a:buNone/>
            </a:pPr>
            <a:endParaRPr lang="en-US" sz="12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COL_B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2286000"/>
            <a:ext cx="5120640" cy="2834640"/>
          </a:xfrm>
          <a:prstGeom prst="rect">
            <a:avLst/>
          </a:prstGeom>
          <a:solidFill>
            <a:srgbClr val="F2F3F5"/>
          </a:solidFill>
          <a:ln/>
        </p:spPr>
      </p:sp>
      <p:sp>
        <p:nvSpPr>
          <p:cNvPr id="3" name="Shape 1"/>
          <p:cNvSpPr/>
          <p:nvPr/>
        </p:nvSpPr>
        <p:spPr>
          <a:xfrm>
            <a:off x="6245352" y="2286000"/>
            <a:ext cx="5120640" cy="2834640"/>
          </a:xfrm>
          <a:prstGeom prst="rect">
            <a:avLst/>
          </a:prstGeom>
          <a:solidFill>
            <a:srgbClr val="F2F3F5"/>
          </a:solidFill>
          <a:ln/>
        </p:spPr>
      </p:sp>
      <p:sp>
        <p:nvSpPr>
          <p:cNvPr id="4" name="Shape 2"/>
          <p:cNvSpPr/>
          <p:nvPr/>
        </p:nvSpPr>
        <p:spPr>
          <a:xfrm>
            <a:off x="822960" y="5303520"/>
            <a:ext cx="10543032" cy="1005840"/>
          </a:xfrm>
          <a:prstGeom prst="rect">
            <a:avLst/>
          </a:prstGeom>
          <a:solidFill>
            <a:srgbClr val="F2F3F5"/>
          </a:solidFill>
          <a:ln/>
        </p:spPr>
      </p:sp>
      <p:sp>
        <p:nvSpPr>
          <p:cNvPr id="5" name="Text 3"/>
          <p:cNvSpPr/>
          <p:nvPr>
            <p:ph idx="103" type="body" hasCustomPrompt="1"/>
          </p:nvPr>
        </p:nvSpPr>
        <p:spPr>
          <a:xfrm>
            <a:off x="822960" y="566928"/>
            <a:ext cx="7315200" cy="274320"/>
          </a:xfrm>
          <a:prstGeom prst="rect">
            <a:avLst/>
          </a:prstGeom>
          <a:noFill/>
          <a:ln/>
        </p:spPr>
        <p:txBody>
          <a:bodyPr wrap="square" rtlCol="0"/>
          <a:lstStyle>
            <a:lvl1pPr indent="0" marL="0">
              <a:buNone/>
              <a:defRPr lang="en-US" sz="1100" b="1" spc="200" kern="0" dirty="0">
                <a:solidFill>
                  <a:srgbClr val="9A3B2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6" name="Text 3"/>
          <p:cNvSpPr/>
          <p:nvPr>
            <p:ph idx="104" type="title" hasCustomPrompt="1"/>
          </p:nvPr>
        </p:nvSpPr>
        <p:spPr>
          <a:xfrm>
            <a:off x="822960" y="896112"/>
            <a:ext cx="10543032" cy="640080"/>
          </a:xfrm>
          <a:prstGeom prst="rect">
            <a:avLst/>
          </a:prstGeom>
          <a:noFill/>
          <a:ln/>
        </p:spPr>
        <p:txBody>
          <a:bodyPr wrap="square" rtlCol="0"/>
          <a:lstStyle>
            <a:lvl1pPr indent="0" marL="0">
              <a:buNone/>
              <a:defRPr lang="en-US" sz="3100" b="1" dirty="0">
                <a:solidFill>
                  <a:srgbClr val="22303C"/>
                </a:solidFill>
                <a:latin typeface="Cambria" pitchFamily="34" charset="0"/>
                <a:ea typeface="Cambria" pitchFamily="34" charset="-122"/>
                <a:cs typeface="Cambria" pitchFamily="34" charset="-120"/>
              </a:defRPr>
            </a:lvl1pPr>
          </a:lstStyle>
          <a:p>
            <a:pPr indent="0" marL="0">
              <a:buNone/>
            </a:pPr>
            <a:endParaRPr lang="en-US" sz="3100" dirty="0"/>
          </a:p>
        </p:txBody>
      </p:sp>
      <p:sp>
        <p:nvSpPr>
          <p:cNvPr id="7" name="Text 3"/>
          <p:cNvSpPr/>
          <p:nvPr>
            <p:ph idx="105" type="body" hasCustomPrompt="1"/>
          </p:nvPr>
        </p:nvSpPr>
        <p:spPr>
          <a:xfrm>
            <a:off x="822960" y="1645920"/>
            <a:ext cx="9966960" cy="457200"/>
          </a:xfrm>
          <a:prstGeom prst="rect">
            <a:avLst/>
          </a:prstGeom>
          <a:noFill/>
          <a:ln/>
        </p:spPr>
        <p:txBody>
          <a:bodyPr wrap="square" rtlCol="0"/>
          <a:lstStyle>
            <a:lvl1pPr indent="0" marL="0">
              <a:lnSpc>
                <a:spcPts val="2000"/>
              </a:lnSpc>
              <a:buNone/>
              <a:defRPr lang="en-US" sz="1500" dirty="0">
                <a:solidFill>
                  <a:srgbClr val="667180"/>
                </a:solidFill>
                <a:latin typeface="Calibri" pitchFamily="34" charset="0"/>
                <a:ea typeface="Calibri" pitchFamily="34" charset="-122"/>
                <a:cs typeface="Calibri" pitchFamily="34" charset="-120"/>
              </a:defRPr>
            </a:lvl1pPr>
          </a:lstStyle>
          <a:p>
            <a:pPr indent="0" marL="0">
              <a:lnSpc>
                <a:spcPts val="2000"/>
              </a:lnSpc>
              <a:buNone/>
            </a:pPr>
            <a:endParaRPr lang="en-US" sz="1500" dirty="0"/>
          </a:p>
        </p:txBody>
      </p:sp>
      <p:sp>
        <p:nvSpPr>
          <p:cNvPr id="8" name="Text 3"/>
          <p:cNvSpPr/>
          <p:nvPr>
            <p:ph idx="106" type="body" hasCustomPrompt="1"/>
          </p:nvPr>
        </p:nvSpPr>
        <p:spPr>
          <a:xfrm>
            <a:off x="1115568" y="2487168"/>
            <a:ext cx="4535424" cy="320040"/>
          </a:xfrm>
          <a:prstGeom prst="rect">
            <a:avLst/>
          </a:prstGeom>
          <a:noFill/>
          <a:ln/>
        </p:spPr>
        <p:txBody>
          <a:bodyPr wrap="square" rtlCol="0"/>
          <a:lstStyle>
            <a:lvl1pPr indent="0" marL="0">
              <a:buNone/>
              <a:defRPr lang="en-US" sz="1650" b="1" dirty="0">
                <a:solidFill>
                  <a:srgbClr val="9A3B2C"/>
                </a:solidFill>
                <a:latin typeface="Cambria" pitchFamily="34" charset="0"/>
                <a:ea typeface="Cambria" pitchFamily="34" charset="-122"/>
                <a:cs typeface="Cambria" pitchFamily="34" charset="-120"/>
              </a:defRPr>
            </a:lvl1pPr>
          </a:lstStyle>
          <a:p>
            <a:pPr indent="0" marL="0">
              <a:buNone/>
            </a:pPr>
            <a:endParaRPr lang="en-US" sz="1650" dirty="0"/>
          </a:p>
        </p:txBody>
      </p:sp>
      <p:sp>
        <p:nvSpPr>
          <p:cNvPr id="9" name="Text 3"/>
          <p:cNvSpPr/>
          <p:nvPr>
            <p:ph idx="107" type="body" hasCustomPrompt="1"/>
          </p:nvPr>
        </p:nvSpPr>
        <p:spPr>
          <a:xfrm>
            <a:off x="1115568" y="2926080"/>
            <a:ext cx="4535424" cy="2011680"/>
          </a:xfrm>
          <a:prstGeom prst="rect">
            <a:avLst/>
          </a:prstGeom>
          <a:noFill/>
          <a:ln/>
        </p:spPr>
        <p:txBody>
          <a:bodyPr wrap="square" rtlCol="0"/>
          <a:lstStyle>
            <a:lvl1pPr indent="0" marL="0">
              <a:lnSpc>
                <a:spcPts val="1700"/>
              </a:lnSpc>
              <a:spcAft>
                <a:spcPts val="800"/>
              </a:spcAft>
              <a:buNone/>
              <a:defRPr lang="en-US" sz="1250" dirty="0">
                <a:solidFill>
                  <a:srgbClr val="22303C"/>
                </a:solidFill>
                <a:latin typeface="Calibri" pitchFamily="34" charset="0"/>
                <a:ea typeface="Calibri" pitchFamily="34" charset="-122"/>
                <a:cs typeface="Calibri" pitchFamily="34" charset="-120"/>
              </a:defRPr>
            </a:lvl1pPr>
          </a:lstStyle>
          <a:p>
            <a:pPr indent="0" marL="0">
              <a:lnSpc>
                <a:spcPts val="1700"/>
              </a:lnSpc>
              <a:spcAft>
                <a:spcPts val="800"/>
              </a:spcAft>
              <a:buNone/>
            </a:pPr>
            <a:endParaRPr lang="en-US" sz="1250" dirty="0"/>
          </a:p>
        </p:txBody>
      </p:sp>
      <p:sp>
        <p:nvSpPr>
          <p:cNvPr id="10" name="Text 3"/>
          <p:cNvSpPr/>
          <p:nvPr>
            <p:ph idx="108" type="body" hasCustomPrompt="1"/>
          </p:nvPr>
        </p:nvSpPr>
        <p:spPr>
          <a:xfrm>
            <a:off x="6537960" y="2487168"/>
            <a:ext cx="4535424" cy="320040"/>
          </a:xfrm>
          <a:prstGeom prst="rect">
            <a:avLst/>
          </a:prstGeom>
          <a:noFill/>
          <a:ln/>
        </p:spPr>
        <p:txBody>
          <a:bodyPr wrap="square" rtlCol="0"/>
          <a:lstStyle>
            <a:lvl1pPr indent="0" marL="0">
              <a:buNone/>
              <a:defRPr lang="en-US" sz="1650" b="1" dirty="0">
                <a:solidFill>
                  <a:srgbClr val="9A3B2C"/>
                </a:solidFill>
                <a:latin typeface="Cambria" pitchFamily="34" charset="0"/>
                <a:ea typeface="Cambria" pitchFamily="34" charset="-122"/>
                <a:cs typeface="Cambria" pitchFamily="34" charset="-120"/>
              </a:defRPr>
            </a:lvl1pPr>
          </a:lstStyle>
          <a:p>
            <a:pPr indent="0" marL="0">
              <a:buNone/>
            </a:pPr>
            <a:endParaRPr lang="en-US" sz="1650" dirty="0"/>
          </a:p>
        </p:txBody>
      </p:sp>
      <p:sp>
        <p:nvSpPr>
          <p:cNvPr id="11" name="Text 3"/>
          <p:cNvSpPr/>
          <p:nvPr>
            <p:ph idx="109" type="body" hasCustomPrompt="1"/>
          </p:nvPr>
        </p:nvSpPr>
        <p:spPr>
          <a:xfrm>
            <a:off x="6537960" y="2926080"/>
            <a:ext cx="4535424" cy="2011680"/>
          </a:xfrm>
          <a:prstGeom prst="rect">
            <a:avLst/>
          </a:prstGeom>
          <a:noFill/>
          <a:ln/>
        </p:spPr>
        <p:txBody>
          <a:bodyPr wrap="square" rtlCol="0"/>
          <a:lstStyle>
            <a:lvl1pPr indent="0" marL="0">
              <a:lnSpc>
                <a:spcPts val="1700"/>
              </a:lnSpc>
              <a:spcAft>
                <a:spcPts val="800"/>
              </a:spcAft>
              <a:buNone/>
              <a:defRPr lang="en-US" sz="1250" dirty="0">
                <a:solidFill>
                  <a:srgbClr val="22303C"/>
                </a:solidFill>
                <a:latin typeface="Calibri" pitchFamily="34" charset="0"/>
                <a:ea typeface="Calibri" pitchFamily="34" charset="-122"/>
                <a:cs typeface="Calibri" pitchFamily="34" charset="-120"/>
              </a:defRPr>
            </a:lvl1pPr>
          </a:lstStyle>
          <a:p>
            <a:pPr indent="0" marL="0">
              <a:lnSpc>
                <a:spcPts val="1700"/>
              </a:lnSpc>
              <a:spcAft>
                <a:spcPts val="800"/>
              </a:spcAft>
              <a:buNone/>
            </a:pPr>
            <a:endParaRPr lang="en-US" sz="1250" dirty="0"/>
          </a:p>
        </p:txBody>
      </p:sp>
      <p:sp>
        <p:nvSpPr>
          <p:cNvPr id="12" name="Text 3"/>
          <p:cNvSpPr/>
          <p:nvPr>
            <p:ph idx="110" type="body" hasCustomPrompt="1"/>
          </p:nvPr>
        </p:nvSpPr>
        <p:spPr>
          <a:xfrm>
            <a:off x="1115568" y="5468112"/>
            <a:ext cx="9957816" cy="274320"/>
          </a:xfrm>
          <a:prstGeom prst="rect">
            <a:avLst/>
          </a:prstGeom>
          <a:noFill/>
          <a:ln/>
        </p:spPr>
        <p:txBody>
          <a:bodyPr wrap="square" rtlCol="0"/>
          <a:lstStyle>
            <a:lvl1pPr indent="0" marL="0">
              <a:buNone/>
              <a:defRPr lang="en-US" sz="1500" b="1" dirty="0">
                <a:solidFill>
                  <a:srgbClr val="22303C"/>
                </a:solidFill>
                <a:latin typeface="Cambria" pitchFamily="34" charset="0"/>
                <a:ea typeface="Cambria" pitchFamily="34" charset="-122"/>
                <a:cs typeface="Cambria" pitchFamily="34" charset="-120"/>
              </a:defRPr>
            </a:lvl1pPr>
          </a:lstStyle>
          <a:p>
            <a:pPr indent="0" marL="0">
              <a:buNone/>
            </a:pPr>
            <a:endParaRPr lang="en-US" sz="1500" dirty="0"/>
          </a:p>
        </p:txBody>
      </p:sp>
      <p:sp>
        <p:nvSpPr>
          <p:cNvPr id="13" name="Text 3"/>
          <p:cNvSpPr/>
          <p:nvPr>
            <p:ph idx="111" type="body" hasCustomPrompt="1"/>
          </p:nvPr>
        </p:nvSpPr>
        <p:spPr>
          <a:xfrm>
            <a:off x="1115568" y="5760720"/>
            <a:ext cx="9957816" cy="457200"/>
          </a:xfrm>
          <a:prstGeom prst="rect">
            <a:avLst/>
          </a:prstGeom>
          <a:noFill/>
          <a:ln/>
        </p:spPr>
        <p:txBody>
          <a:bodyPr wrap="square" rtlCol="0"/>
          <a:lstStyle>
            <a:lvl1pPr indent="0" marL="0">
              <a:lnSpc>
                <a:spcPts val="1600"/>
              </a:lnSpc>
              <a:buNone/>
              <a:defRPr lang="en-US" sz="1250" dirty="0">
                <a:solidFill>
                  <a:srgbClr val="22303C"/>
                </a:solidFill>
                <a:latin typeface="Calibri" pitchFamily="34" charset="0"/>
                <a:ea typeface="Calibri" pitchFamily="34" charset="-122"/>
                <a:cs typeface="Calibri" pitchFamily="34" charset="-120"/>
              </a:defRPr>
            </a:lvl1pPr>
          </a:lstStyle>
          <a:p>
            <a:pPr indent="0" marL="0">
              <a:lnSpc>
                <a:spcPts val="1600"/>
              </a:lnSpc>
              <a:buNone/>
            </a:pPr>
            <a:endParaRPr lang="en-US" sz="12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3"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PROBLEM</a:t>
            </a:r>
            <a:endParaRPr lang="en-US" sz="1100" dirty="0"/>
          </a:p>
        </p:txBody>
      </p:sp>
      <p:sp>
        <p:nvSpPr>
          <p:cNvPr id="3" name="Text 3"/>
          <p:cNvSpPr/>
          <p:nvPr>
            <p:ph idx="104"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Auto claims are processed by hand</a:t>
            </a:r>
            <a:endParaRPr lang="en-US" sz="3100" dirty="0"/>
          </a:p>
        </p:txBody>
      </p:sp>
      <p:sp>
        <p:nvSpPr>
          <p:cNvPr id="4" name="Text 3"/>
          <p:cNvSpPr/>
          <p:nvPr>
            <p:ph idx="105" type="body" hasCustomPrompt="1"/>
          </p:nvPr>
        </p:nvSpPr>
        <p:spPr>
          <a:xfrm>
            <a:off x="1115568" y="2487168"/>
            <a:ext cx="2761488" cy="365760"/>
          </a:xfrm>
          <a:prstGeom prst="rect">
            <a:avLst/>
          </a:prstGeom>
          <a:noFill/>
          <a:ln/>
        </p:spPr>
        <p:txBody>
          <a:bodyPr wrap="square" lIns="0" tIns="0" rIns="0" bIns="0" rtlCol="0">
            <a:normAutofit/>
          </a:bodyPr>
          <a:lstStyle/>
          <a:p>
            <a:pPr indent="0" marL="0">
              <a:buNone/>
            </a:pPr>
            <a:r>
              <a:rPr lang="en-US" sz="1750" b="1" dirty="0">
                <a:solidFill>
                  <a:srgbClr val="9A3B2C"/>
                </a:solidFill>
                <a:latin typeface="Cambria" pitchFamily="34" charset="0"/>
                <a:ea typeface="Cambria" pitchFamily="34" charset="-122"/>
                <a:cs typeface="Cambria" pitchFamily="34" charset="-120"/>
              </a:rPr>
              <a:t>Today</a:t>
            </a:r>
            <a:endParaRPr lang="en-US" sz="1750" dirty="0"/>
          </a:p>
        </p:txBody>
      </p:sp>
      <p:sp>
        <p:nvSpPr>
          <p:cNvPr id="5" name="Text 3"/>
          <p:cNvSpPr/>
          <p:nvPr>
            <p:ph idx="106" type="body" hasCustomPrompt="1"/>
          </p:nvPr>
        </p:nvSpPr>
        <p:spPr>
          <a:xfrm>
            <a:off x="1115568" y="2971800"/>
            <a:ext cx="2761488" cy="1554480"/>
          </a:xfrm>
          <a:prstGeom prst="rect">
            <a:avLst/>
          </a:prstGeom>
          <a:noFill/>
          <a:ln/>
        </p:spPr>
        <p:txBody>
          <a:bodyPr wrap="square" lIns="0" tIns="0" rIns="0" bIns="0" rtlCol="0">
            <a:normAutofit/>
          </a:bodyPr>
          <a:lstStyle/>
          <a:p>
            <a:pPr indent="0" marL="0">
              <a:lnSpc>
                <a:spcPts val="1800"/>
              </a:lnSpc>
              <a:buNone/>
            </a:pPr>
            <a:r>
              <a:rPr lang="en-US" sz="1300" dirty="0">
                <a:solidFill>
                  <a:srgbClr val="22303C"/>
                </a:solidFill>
                <a:latin typeface="Calibri" pitchFamily="34" charset="0"/>
                <a:ea typeface="Calibri" pitchFamily="34" charset="-122"/>
                <a:cs typeface="Calibri" pitchFamily="34" charset="-120"/>
              </a:rPr>
              <a:t>An adjuster reviews the photos, looks up the policy terms, and computes the payout manually. Every claim costs adjuster time.</a:t>
            </a:r>
            <a:endParaRPr lang="en-US" sz="1300" dirty="0"/>
          </a:p>
        </p:txBody>
      </p:sp>
      <p:sp>
        <p:nvSpPr>
          <p:cNvPr id="6" name="Text 3"/>
          <p:cNvSpPr/>
          <p:nvPr>
            <p:ph idx="107" type="body" hasCustomPrompt="1"/>
          </p:nvPr>
        </p:nvSpPr>
        <p:spPr>
          <a:xfrm>
            <a:off x="4713732" y="2487168"/>
            <a:ext cx="2761488" cy="365760"/>
          </a:xfrm>
          <a:prstGeom prst="rect">
            <a:avLst/>
          </a:prstGeom>
          <a:noFill/>
          <a:ln/>
        </p:spPr>
        <p:txBody>
          <a:bodyPr wrap="square" lIns="0" tIns="0" rIns="0" bIns="0" rtlCol="0">
            <a:normAutofit/>
          </a:bodyPr>
          <a:lstStyle/>
          <a:p>
            <a:pPr indent="0" marL="0">
              <a:buNone/>
            </a:pPr>
            <a:r>
              <a:rPr lang="en-US" sz="1750" b="1" dirty="0">
                <a:solidFill>
                  <a:srgbClr val="9A3B2C"/>
                </a:solidFill>
                <a:latin typeface="Cambria" pitchFamily="34" charset="0"/>
                <a:ea typeface="Cambria" pitchFamily="34" charset="-122"/>
                <a:cs typeface="Cambria" pitchFamily="34" charset="-120"/>
              </a:rPr>
              <a:t>Goal</a:t>
            </a:r>
            <a:endParaRPr lang="en-US" sz="1750" dirty="0"/>
          </a:p>
        </p:txBody>
      </p:sp>
      <p:sp>
        <p:nvSpPr>
          <p:cNvPr id="7" name="Text 3"/>
          <p:cNvSpPr/>
          <p:nvPr>
            <p:ph idx="108" type="body" hasCustomPrompt="1"/>
          </p:nvPr>
        </p:nvSpPr>
        <p:spPr>
          <a:xfrm>
            <a:off x="4713732" y="2971800"/>
            <a:ext cx="2761488" cy="1554480"/>
          </a:xfrm>
          <a:prstGeom prst="rect">
            <a:avLst/>
          </a:prstGeom>
          <a:noFill/>
          <a:ln/>
        </p:spPr>
        <p:txBody>
          <a:bodyPr wrap="square" lIns="0" tIns="0" rIns="0" bIns="0" rtlCol="0">
            <a:normAutofit/>
          </a:bodyPr>
          <a:lstStyle/>
          <a:p>
            <a:pPr indent="0" marL="0">
              <a:lnSpc>
                <a:spcPts val="1800"/>
              </a:lnSpc>
              <a:buNone/>
            </a:pPr>
            <a:r>
              <a:rPr lang="en-US" sz="1300" dirty="0">
                <a:solidFill>
                  <a:srgbClr val="22303C"/>
                </a:solidFill>
                <a:latin typeface="Calibri" pitchFamily="34" charset="0"/>
                <a:ea typeface="Calibri" pitchFamily="34" charset="-122"/>
                <a:cs typeface="Calibri" pitchFamily="34" charset="-120"/>
              </a:rPr>
              <a:t>Auto approve the routine claims end to end. Route the ambiguous ones to an adjuster with the evidence already gathered.</a:t>
            </a:r>
            <a:endParaRPr lang="en-US" sz="1300" dirty="0"/>
          </a:p>
        </p:txBody>
      </p:sp>
      <p:sp>
        <p:nvSpPr>
          <p:cNvPr id="8" name="Text 3"/>
          <p:cNvSpPr/>
          <p:nvPr>
            <p:ph idx="109" type="body" hasCustomPrompt="1"/>
          </p:nvPr>
        </p:nvSpPr>
        <p:spPr>
          <a:xfrm>
            <a:off x="8311896" y="2487168"/>
            <a:ext cx="2761488" cy="365760"/>
          </a:xfrm>
          <a:prstGeom prst="rect">
            <a:avLst/>
          </a:prstGeom>
          <a:noFill/>
          <a:ln/>
        </p:spPr>
        <p:txBody>
          <a:bodyPr wrap="square" lIns="0" tIns="0" rIns="0" bIns="0" rtlCol="0">
            <a:normAutofit/>
          </a:bodyPr>
          <a:lstStyle/>
          <a:p>
            <a:pPr indent="0" marL="0">
              <a:buNone/>
            </a:pPr>
            <a:r>
              <a:rPr lang="en-US" sz="1750" b="1" dirty="0">
                <a:solidFill>
                  <a:srgbClr val="9A3B2C"/>
                </a:solidFill>
                <a:latin typeface="Cambria" pitchFamily="34" charset="0"/>
                <a:ea typeface="Cambria" pitchFamily="34" charset="-122"/>
                <a:cs typeface="Cambria" pitchFamily="34" charset="-120"/>
              </a:rPr>
              <a:t>Constraint</a:t>
            </a:r>
            <a:endParaRPr lang="en-US" sz="1750" dirty="0"/>
          </a:p>
        </p:txBody>
      </p:sp>
      <p:sp>
        <p:nvSpPr>
          <p:cNvPr id="9" name="Text 3"/>
          <p:cNvSpPr/>
          <p:nvPr>
            <p:ph idx="110" type="body" hasCustomPrompt="1"/>
          </p:nvPr>
        </p:nvSpPr>
        <p:spPr>
          <a:xfrm>
            <a:off x="8311896" y="2971800"/>
            <a:ext cx="2761488" cy="1554480"/>
          </a:xfrm>
          <a:prstGeom prst="rect">
            <a:avLst/>
          </a:prstGeom>
          <a:noFill/>
          <a:ln/>
        </p:spPr>
        <p:txBody>
          <a:bodyPr wrap="square" lIns="0" tIns="0" rIns="0" bIns="0" rtlCol="0">
            <a:normAutofit/>
          </a:bodyPr>
          <a:lstStyle/>
          <a:p>
            <a:pPr indent="0" marL="0">
              <a:lnSpc>
                <a:spcPts val="1800"/>
              </a:lnSpc>
              <a:buNone/>
            </a:pPr>
            <a:r>
              <a:rPr lang="en-US" sz="1300" dirty="0">
                <a:solidFill>
                  <a:srgbClr val="22303C"/>
                </a:solidFill>
                <a:latin typeface="Calibri" pitchFamily="34" charset="0"/>
                <a:ea typeface="Calibri" pitchFamily="34" charset="-122"/>
                <a:cs typeface="Calibri" pitchFamily="34" charset="-120"/>
              </a:rPr>
              <a:t>Insurance is regulated. A wrong payout is a financial and legal liability, so the payout path has to be provably correct and auditable.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ARCHITECTURES</a:t>
            </a:r>
            <a:endParaRPr lang="en-US" sz="1100" dirty="0"/>
          </a:p>
        </p:txBody>
      </p:sp>
      <p:sp>
        <p:nvSpPr>
          <p:cNvPr id="3" name="Text 5"/>
          <p:cNvSpPr/>
          <p:nvPr>
            <p:ph idx="106"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Three implementations</a:t>
            </a:r>
            <a:endParaRPr lang="en-US" sz="3100" dirty="0"/>
          </a:p>
        </p:txBody>
      </p:sp>
      <p:sp>
        <p:nvSpPr>
          <p:cNvPr id="4" name="Text 5"/>
          <p:cNvSpPr/>
          <p:nvPr>
            <p:ph idx="107" type="body" hasCustomPrompt="1"/>
          </p:nvPr>
        </p:nvSpPr>
        <p:spPr>
          <a:xfrm>
            <a:off x="822960" y="1645920"/>
            <a:ext cx="9966960" cy="457200"/>
          </a:xfrm>
          <a:prstGeom prst="rect">
            <a:avLst/>
          </a:prstGeom>
          <a:noFill/>
          <a:ln/>
        </p:spPr>
        <p:txBody>
          <a:bodyPr wrap="square" lIns="0" tIns="0" rIns="0" bIns="0" rtlCol="0">
            <a:normAutofit/>
          </a:bodyPr>
          <a:lstStyle/>
          <a:p>
            <a:pPr indent="0" marL="0">
              <a:lnSpc>
                <a:spcPts val="2000"/>
              </a:lnSpc>
              <a:buNone/>
            </a:pPr>
            <a:r>
              <a:rPr lang="en-US" sz="1500" dirty="0">
                <a:solidFill>
                  <a:srgbClr val="667180"/>
                </a:solidFill>
                <a:latin typeface="Calibri" pitchFamily="34" charset="0"/>
                <a:ea typeface="Calibri" pitchFamily="34" charset="-122"/>
                <a:cs typeface="Calibri" pitchFamily="34" charset="-120"/>
              </a:rPr>
              <a:t>All three run against the same frozen golden set curated from CarDD, and are compared on accuracy, cost, latency, auditability, and failure modes.</a:t>
            </a:r>
            <a:endParaRPr lang="en-US" sz="1500" dirty="0"/>
          </a:p>
        </p:txBody>
      </p:sp>
      <p:sp>
        <p:nvSpPr>
          <p:cNvPr id="5" name="Text 5"/>
          <p:cNvSpPr/>
          <p:nvPr>
            <p:ph idx="108" type="body" hasCustomPrompt="1"/>
          </p:nvPr>
        </p:nvSpPr>
        <p:spPr>
          <a:xfrm>
            <a:off x="1115568" y="2414016"/>
            <a:ext cx="2761488" cy="228600"/>
          </a:xfrm>
          <a:prstGeom prst="rect">
            <a:avLst/>
          </a:prstGeom>
          <a:noFill/>
          <a:ln/>
        </p:spPr>
        <p:txBody>
          <a:bodyPr wrap="square" lIns="0" tIns="0" rIns="0" bIns="0" rtlCol="0">
            <a:normAutofit/>
          </a:bodyPr>
          <a:lstStyle/>
          <a:p>
            <a:pPr indent="0" marL="0">
              <a:buNone/>
            </a:pPr>
            <a:r>
              <a:rPr lang="en-US" sz="1100" b="1" dirty="0">
                <a:solidFill>
                  <a:srgbClr val="9A3B2C"/>
                </a:solidFill>
                <a:latin typeface="Calibri" pitchFamily="34" charset="0"/>
                <a:ea typeface="Calibri" pitchFamily="34" charset="-122"/>
                <a:cs typeface="Calibri" pitchFamily="34" charset="-120"/>
              </a:rPr>
              <a:t>Architecture 1</a:t>
            </a:r>
            <a:endParaRPr lang="en-US" sz="1100" dirty="0"/>
          </a:p>
        </p:txBody>
      </p:sp>
      <p:sp>
        <p:nvSpPr>
          <p:cNvPr id="6" name="Text 5"/>
          <p:cNvSpPr/>
          <p:nvPr>
            <p:ph idx="109" type="body" hasCustomPrompt="1"/>
          </p:nvPr>
        </p:nvSpPr>
        <p:spPr>
          <a:xfrm>
            <a:off x="1115568" y="2651760"/>
            <a:ext cx="2761488" cy="292608"/>
          </a:xfrm>
          <a:prstGeom prst="rect">
            <a:avLst/>
          </a:prstGeom>
          <a:noFill/>
          <a:ln/>
        </p:spPr>
        <p:txBody>
          <a:bodyPr wrap="square" lIns="0" tIns="0" rIns="0" bIns="0" rtlCol="0">
            <a:normAutofit/>
          </a:bodyPr>
          <a:lstStyle/>
          <a:p>
            <a:pPr indent="0" marL="0">
              <a:buNone/>
            </a:pPr>
            <a:r>
              <a:rPr lang="en-US" sz="1600" b="1" dirty="0">
                <a:solidFill>
                  <a:srgbClr val="22303C"/>
                </a:solidFill>
                <a:latin typeface="Cambria" pitchFamily="34" charset="0"/>
                <a:ea typeface="Cambria" pitchFamily="34" charset="-122"/>
                <a:cs typeface="Cambria" pitchFamily="34" charset="-120"/>
              </a:rPr>
              <a:t>Monolith</a:t>
            </a:r>
            <a:endParaRPr lang="en-US" sz="1600" dirty="0"/>
          </a:p>
        </p:txBody>
      </p:sp>
      <p:sp>
        <p:nvSpPr>
          <p:cNvPr id="7" name="Text 5"/>
          <p:cNvSpPr/>
          <p:nvPr>
            <p:ph idx="110" type="body" hasCustomPrompt="1"/>
          </p:nvPr>
        </p:nvSpPr>
        <p:spPr>
          <a:xfrm>
            <a:off x="1115568" y="2980944"/>
            <a:ext cx="2761488" cy="457200"/>
          </a:xfrm>
          <a:prstGeom prst="rect">
            <a:avLst/>
          </a:prstGeom>
          <a:noFill/>
          <a:ln/>
        </p:spPr>
        <p:txBody>
          <a:bodyPr wrap="square" lIns="0" tIns="0" rIns="0" bIns="0" rtlCol="0">
            <a:normAutofit/>
          </a:bodyPr>
          <a:lstStyle/>
          <a:p>
            <a:pPr indent="0" marL="0">
              <a:lnSpc>
                <a:spcPts val="1500"/>
              </a:lnSpc>
              <a:buNone/>
            </a:pPr>
            <a:r>
              <a:rPr lang="en-US" sz="1200" dirty="0">
                <a:solidFill>
                  <a:srgbClr val="667180"/>
                </a:solidFill>
                <a:latin typeface="Calibri" pitchFamily="34" charset="0"/>
                <a:ea typeface="Calibri" pitchFamily="34" charset="-122"/>
                <a:cs typeface="Calibri" pitchFamily="34" charset="-120"/>
              </a:rPr>
              <a:t>One model call produces the whole decision.</a:t>
            </a:r>
            <a:endParaRPr lang="en-US" sz="1200" dirty="0"/>
          </a:p>
        </p:txBody>
      </p:sp>
      <p:sp>
        <p:nvSpPr>
          <p:cNvPr id="8" name="Text 5"/>
          <p:cNvSpPr/>
          <p:nvPr>
            <p:ph idx="111" type="body" hasCustomPrompt="1"/>
          </p:nvPr>
        </p:nvSpPr>
        <p:spPr>
          <a:xfrm>
            <a:off x="4713732" y="2414016"/>
            <a:ext cx="2761488" cy="228600"/>
          </a:xfrm>
          <a:prstGeom prst="rect">
            <a:avLst/>
          </a:prstGeom>
          <a:noFill/>
          <a:ln/>
        </p:spPr>
        <p:txBody>
          <a:bodyPr wrap="square" lIns="0" tIns="0" rIns="0" bIns="0" rtlCol="0">
            <a:normAutofit/>
          </a:bodyPr>
          <a:lstStyle/>
          <a:p>
            <a:pPr indent="0" marL="0">
              <a:buNone/>
            </a:pPr>
            <a:r>
              <a:rPr lang="en-US" sz="1100" b="1" dirty="0">
                <a:solidFill>
                  <a:srgbClr val="9A3B2C"/>
                </a:solidFill>
                <a:latin typeface="Calibri" pitchFamily="34" charset="0"/>
                <a:ea typeface="Calibri" pitchFamily="34" charset="-122"/>
                <a:cs typeface="Calibri" pitchFamily="34" charset="-120"/>
              </a:rPr>
              <a:t>Architecture 2</a:t>
            </a:r>
            <a:endParaRPr lang="en-US" sz="1100" dirty="0"/>
          </a:p>
        </p:txBody>
      </p:sp>
      <p:sp>
        <p:nvSpPr>
          <p:cNvPr id="9" name="Text 5"/>
          <p:cNvSpPr/>
          <p:nvPr>
            <p:ph idx="112" type="body" hasCustomPrompt="1"/>
          </p:nvPr>
        </p:nvSpPr>
        <p:spPr>
          <a:xfrm>
            <a:off x="4713732" y="2651760"/>
            <a:ext cx="2761488" cy="292608"/>
          </a:xfrm>
          <a:prstGeom prst="rect">
            <a:avLst/>
          </a:prstGeom>
          <a:noFill/>
          <a:ln/>
        </p:spPr>
        <p:txBody>
          <a:bodyPr wrap="square" lIns="0" tIns="0" rIns="0" bIns="0" rtlCol="0">
            <a:normAutofit/>
          </a:bodyPr>
          <a:lstStyle/>
          <a:p>
            <a:pPr indent="0" marL="0">
              <a:buNone/>
            </a:pPr>
            <a:r>
              <a:rPr lang="en-US" sz="1600" b="1" dirty="0">
                <a:solidFill>
                  <a:srgbClr val="22303C"/>
                </a:solidFill>
                <a:latin typeface="Cambria" pitchFamily="34" charset="0"/>
                <a:ea typeface="Cambria" pitchFamily="34" charset="-122"/>
                <a:cs typeface="Cambria" pitchFamily="34" charset="-120"/>
              </a:rPr>
              <a:t>Split pipeline</a:t>
            </a:r>
            <a:endParaRPr lang="en-US" sz="1600" dirty="0"/>
          </a:p>
        </p:txBody>
      </p:sp>
      <p:sp>
        <p:nvSpPr>
          <p:cNvPr id="10" name="Text 5"/>
          <p:cNvSpPr/>
          <p:nvPr>
            <p:ph idx="113" type="body" hasCustomPrompt="1"/>
          </p:nvPr>
        </p:nvSpPr>
        <p:spPr>
          <a:xfrm>
            <a:off x="4713732" y="2980944"/>
            <a:ext cx="2761488" cy="457200"/>
          </a:xfrm>
          <a:prstGeom prst="rect">
            <a:avLst/>
          </a:prstGeom>
          <a:noFill/>
          <a:ln/>
        </p:spPr>
        <p:txBody>
          <a:bodyPr wrap="square" lIns="0" tIns="0" rIns="0" bIns="0" rtlCol="0">
            <a:normAutofit/>
          </a:bodyPr>
          <a:lstStyle/>
          <a:p>
            <a:pPr indent="0" marL="0">
              <a:lnSpc>
                <a:spcPts val="1500"/>
              </a:lnSpc>
              <a:buNone/>
            </a:pPr>
            <a:r>
              <a:rPr lang="en-US" sz="1200" dirty="0">
                <a:solidFill>
                  <a:srgbClr val="667180"/>
                </a:solidFill>
                <a:latin typeface="Calibri" pitchFamily="34" charset="0"/>
                <a:ea typeface="Calibri" pitchFamily="34" charset="-122"/>
                <a:cs typeface="Calibri" pitchFamily="34" charset="-120"/>
              </a:rPr>
              <a:t>Four fixed stages, no framework. Built and running.</a:t>
            </a:r>
            <a:endParaRPr lang="en-US" sz="1200" dirty="0"/>
          </a:p>
        </p:txBody>
      </p:sp>
      <p:sp>
        <p:nvSpPr>
          <p:cNvPr id="11" name="Text 5"/>
          <p:cNvSpPr/>
          <p:nvPr>
            <p:ph idx="114" type="body" hasCustomPrompt="1"/>
          </p:nvPr>
        </p:nvSpPr>
        <p:spPr>
          <a:xfrm>
            <a:off x="8311896" y="2414016"/>
            <a:ext cx="2761488" cy="228600"/>
          </a:xfrm>
          <a:prstGeom prst="rect">
            <a:avLst/>
          </a:prstGeom>
          <a:noFill/>
          <a:ln/>
        </p:spPr>
        <p:txBody>
          <a:bodyPr wrap="square" lIns="0" tIns="0" rIns="0" bIns="0" rtlCol="0">
            <a:normAutofit/>
          </a:bodyPr>
          <a:lstStyle/>
          <a:p>
            <a:pPr indent="0" marL="0">
              <a:buNone/>
            </a:pPr>
            <a:r>
              <a:rPr lang="en-US" sz="1100" b="1" dirty="0">
                <a:solidFill>
                  <a:srgbClr val="9A3B2C"/>
                </a:solidFill>
                <a:latin typeface="Calibri" pitchFamily="34" charset="0"/>
                <a:ea typeface="Calibri" pitchFamily="34" charset="-122"/>
                <a:cs typeface="Calibri" pitchFamily="34" charset="-120"/>
              </a:rPr>
              <a:t>Architecture 3</a:t>
            </a:r>
            <a:endParaRPr lang="en-US" sz="1100" dirty="0"/>
          </a:p>
        </p:txBody>
      </p:sp>
      <p:sp>
        <p:nvSpPr>
          <p:cNvPr id="12" name="Text 5"/>
          <p:cNvSpPr/>
          <p:nvPr>
            <p:ph idx="115" type="body" hasCustomPrompt="1"/>
          </p:nvPr>
        </p:nvSpPr>
        <p:spPr>
          <a:xfrm>
            <a:off x="8311896" y="2651760"/>
            <a:ext cx="2761488" cy="292608"/>
          </a:xfrm>
          <a:prstGeom prst="rect">
            <a:avLst/>
          </a:prstGeom>
          <a:noFill/>
          <a:ln/>
        </p:spPr>
        <p:txBody>
          <a:bodyPr wrap="square" lIns="0" tIns="0" rIns="0" bIns="0" rtlCol="0">
            <a:normAutofit/>
          </a:bodyPr>
          <a:lstStyle/>
          <a:p>
            <a:pPr indent="0" marL="0">
              <a:buNone/>
            </a:pPr>
            <a:r>
              <a:rPr lang="en-US" sz="1600" b="1" dirty="0">
                <a:solidFill>
                  <a:srgbClr val="22303C"/>
                </a:solidFill>
                <a:latin typeface="Cambria" pitchFamily="34" charset="0"/>
                <a:ea typeface="Cambria" pitchFamily="34" charset="-122"/>
                <a:cs typeface="Cambria" pitchFamily="34" charset="-120"/>
              </a:rPr>
              <a:t>Bounded agent</a:t>
            </a:r>
            <a:endParaRPr lang="en-US" sz="1600" dirty="0"/>
          </a:p>
        </p:txBody>
      </p:sp>
      <p:sp>
        <p:nvSpPr>
          <p:cNvPr id="13" name="Text 5"/>
          <p:cNvSpPr/>
          <p:nvPr>
            <p:ph idx="116" type="body" hasCustomPrompt="1"/>
          </p:nvPr>
        </p:nvSpPr>
        <p:spPr>
          <a:xfrm>
            <a:off x="8311896" y="2980944"/>
            <a:ext cx="2761488" cy="457200"/>
          </a:xfrm>
          <a:prstGeom prst="rect">
            <a:avLst/>
          </a:prstGeom>
          <a:noFill/>
          <a:ln/>
        </p:spPr>
        <p:txBody>
          <a:bodyPr wrap="square" lIns="0" tIns="0" rIns="0" bIns="0" rtlCol="0">
            <a:normAutofit/>
          </a:bodyPr>
          <a:lstStyle/>
          <a:p>
            <a:pPr indent="0" marL="0">
              <a:lnSpc>
                <a:spcPts val="1500"/>
              </a:lnSpc>
              <a:buNone/>
            </a:pPr>
            <a:r>
              <a:rPr lang="en-US" sz="1200" dirty="0">
                <a:solidFill>
                  <a:srgbClr val="667180"/>
                </a:solidFill>
                <a:latin typeface="Calibri" pitchFamily="34" charset="0"/>
                <a:ea typeface="Calibri" pitchFamily="34" charset="-122"/>
                <a:cs typeface="Calibri" pitchFamily="34" charset="-120"/>
              </a:rPr>
              <a:t>Planner, executor, verifier loop. Built and running.</a:t>
            </a:r>
            <a:endParaRPr lang="en-US" sz="1200" dirty="0"/>
          </a:p>
        </p:txBody>
      </p:sp>
      <p:sp>
        <p:nvSpPr>
          <p:cNvPr id="14" name="Text 5"/>
          <p:cNvSpPr/>
          <p:nvPr>
            <p:ph idx="117" type="body" hasCustomPrompt="1"/>
          </p:nvPr>
        </p:nvSpPr>
        <p:spPr>
          <a:xfrm>
            <a:off x="1115568" y="3995928"/>
            <a:ext cx="4535424" cy="320040"/>
          </a:xfrm>
          <a:prstGeom prst="rect">
            <a:avLst/>
          </a:prstGeom>
          <a:noFill/>
          <a:ln/>
        </p:spPr>
        <p:txBody>
          <a:bodyPr wrap="square" lIns="0" tIns="0" rIns="0" bIns="0" rtlCol="0">
            <a:normAutofit/>
          </a:bodyPr>
          <a:lstStyle/>
          <a:p>
            <a:pPr indent="0" marL="0">
              <a:buNone/>
            </a:pPr>
            <a:r>
              <a:rPr lang="en-US" sz="1650" b="1" dirty="0">
                <a:solidFill>
                  <a:srgbClr val="9A3B2C"/>
                </a:solidFill>
                <a:latin typeface="Cambria" pitchFamily="34" charset="0"/>
                <a:ea typeface="Cambria" pitchFamily="34" charset="-122"/>
                <a:cs typeface="Cambria" pitchFamily="34" charset="-120"/>
              </a:rPr>
              <a:t>Shared data foundation</a:t>
            </a:r>
            <a:endParaRPr lang="en-US" sz="1650" dirty="0"/>
          </a:p>
        </p:txBody>
      </p:sp>
      <p:sp>
        <p:nvSpPr>
          <p:cNvPr id="15" name="Text 5"/>
          <p:cNvSpPr/>
          <p:nvPr>
            <p:ph idx="118" type="body" hasCustomPrompt="1"/>
          </p:nvPr>
        </p:nvSpPr>
        <p:spPr>
          <a:xfrm>
            <a:off x="1115568" y="4434840"/>
            <a:ext cx="4535424" cy="155448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One SQLite database: cost table, policies, claims, claim damage instances</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Seed scripts for every table, reproducible from a committed manifest</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Golden dataset curated from CarDD, frozen, versioned, and never trained on</a:t>
            </a:r>
            <a:endParaRPr lang="en-US" sz="1250" dirty="0"/>
          </a:p>
        </p:txBody>
      </p:sp>
      <p:sp>
        <p:nvSpPr>
          <p:cNvPr id="16" name="Text 5"/>
          <p:cNvSpPr/>
          <p:nvPr>
            <p:ph idx="119" type="body" hasCustomPrompt="1"/>
          </p:nvPr>
        </p:nvSpPr>
        <p:spPr>
          <a:xfrm>
            <a:off x="6537960" y="3995928"/>
            <a:ext cx="4535424" cy="320040"/>
          </a:xfrm>
          <a:prstGeom prst="rect">
            <a:avLst/>
          </a:prstGeom>
          <a:noFill/>
          <a:ln/>
        </p:spPr>
        <p:txBody>
          <a:bodyPr wrap="square" lIns="0" tIns="0" rIns="0" bIns="0" rtlCol="0">
            <a:normAutofit/>
          </a:bodyPr>
          <a:lstStyle/>
          <a:p>
            <a:pPr indent="0" marL="0">
              <a:buNone/>
            </a:pPr>
            <a:r>
              <a:rPr lang="en-US" sz="1650" b="1" dirty="0">
                <a:solidFill>
                  <a:srgbClr val="9A3B2C"/>
                </a:solidFill>
                <a:latin typeface="Cambria" pitchFamily="34" charset="0"/>
                <a:ea typeface="Cambria" pitchFamily="34" charset="-122"/>
                <a:cs typeface="Cambria" pitchFamily="34" charset="-120"/>
              </a:rPr>
              <a:t>Shared business logic</a:t>
            </a:r>
            <a:endParaRPr lang="en-US" sz="1650" dirty="0"/>
          </a:p>
        </p:txBody>
      </p:sp>
      <p:sp>
        <p:nvSpPr>
          <p:cNvPr id="17" name="Text 5"/>
          <p:cNvSpPr/>
          <p:nvPr>
            <p:ph idx="120" type="body" hasCustomPrompt="1"/>
          </p:nvPr>
        </p:nvSpPr>
        <p:spPr>
          <a:xfrm>
            <a:off x="6537960" y="4434840"/>
            <a:ext cx="4535424" cy="155448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Severity map, cost lookup, policy lookup, and rules engine live in one module</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Architecture 3 calls the same module rather than reimplementing any of it</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Unit tested against hand computed cases, so a wrong payout is a code bug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ARCHITECTURE 2</a:t>
            </a:r>
            <a:endParaRPr lang="en-US" sz="1100" dirty="0"/>
          </a:p>
        </p:txBody>
      </p:sp>
      <p:sp>
        <p:nvSpPr>
          <p:cNvPr id="3" name="Text 1"/>
          <p:cNvSpPr/>
          <p:nvPr>
            <p:ph idx="102"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Split pipeline: fixed stages, fixed order</a:t>
            </a:r>
            <a:endParaRPr lang="en-US" sz="3100" dirty="0"/>
          </a:p>
        </p:txBody>
      </p:sp>
      <p:sp>
        <p:nvSpPr>
          <p:cNvPr id="4" name="Text 1"/>
          <p:cNvSpPr/>
          <p:nvPr>
            <p:ph idx="103" type="body" hasCustomPrompt="1"/>
          </p:nvPr>
        </p:nvSpPr>
        <p:spPr>
          <a:xfrm>
            <a:off x="822960" y="1645920"/>
            <a:ext cx="9966960" cy="457200"/>
          </a:xfrm>
          <a:prstGeom prst="rect">
            <a:avLst/>
          </a:prstGeom>
          <a:noFill/>
          <a:ln/>
        </p:spPr>
        <p:txBody>
          <a:bodyPr wrap="square" lIns="0" tIns="0" rIns="0" bIns="0" rtlCol="0">
            <a:normAutofit/>
          </a:bodyPr>
          <a:lstStyle/>
          <a:p>
            <a:pPr indent="0" marL="0">
              <a:lnSpc>
                <a:spcPts val="2000"/>
              </a:lnSpc>
              <a:buNone/>
            </a:pPr>
            <a:r>
              <a:rPr lang="en-US" sz="1500" dirty="0">
                <a:solidFill>
                  <a:srgbClr val="667180"/>
                </a:solidFill>
                <a:latin typeface="Calibri" pitchFamily="34" charset="0"/>
                <a:ea typeface="Calibri" pitchFamily="34" charset="-122"/>
                <a:cs typeface="Calibri" pitchFamily="34" charset="-120"/>
              </a:rPr>
              <a:t>arch2_split/pipeline.py, run_upload. Four stages run once each, in the same order for every claim.</a:t>
            </a:r>
            <a:endParaRPr lang="en-US" sz="1500" dirty="0"/>
          </a:p>
        </p:txBody>
      </p:sp>
      <p:sp>
        <p:nvSpPr>
          <p:cNvPr id="5" name="Text 1"/>
          <p:cNvSpPr/>
          <p:nvPr>
            <p:ph idx="104" type="body" hasCustomPrompt="1"/>
          </p:nvPr>
        </p:nvSpPr>
        <p:spPr>
          <a:xfrm>
            <a:off x="1115568" y="2560320"/>
            <a:ext cx="9957816" cy="283464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The gatekeeper is the only stage that can stop a claim early. An unusable photo returns a retake request and never reaches the rules engine.</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The segmenter writes the visible panels to the audit log. Nothing downstream reads that output, so it cannot affect the payout.</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The damage assessor returns the damage instances and a confidence for each. Finding nothing is treated as an escalation, not as a zero payout.</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Damage rows are written to the database first, and the rules engine prices the claim from those stored rows rather than from the model response.</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Every branch is a fixed edge in code. The same photo takes the same path every time it is run.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ARCHITECTURE 3</a:t>
            </a:r>
            <a:endParaRPr lang="en-US" sz="1100" dirty="0"/>
          </a:p>
        </p:txBody>
      </p:sp>
      <p:sp>
        <p:nvSpPr>
          <p:cNvPr id="3" name="Text 1"/>
          <p:cNvSpPr/>
          <p:nvPr>
            <p:ph idx="102"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Planner, executor, verifier loop</a:t>
            </a:r>
            <a:endParaRPr lang="en-US" sz="3100" dirty="0"/>
          </a:p>
        </p:txBody>
      </p:sp>
      <p:sp>
        <p:nvSpPr>
          <p:cNvPr id="4" name="Text 1"/>
          <p:cNvSpPr/>
          <p:nvPr>
            <p:ph idx="103" type="body" hasCustomPrompt="1"/>
          </p:nvPr>
        </p:nvSpPr>
        <p:spPr>
          <a:xfrm>
            <a:off x="822960" y="1645920"/>
            <a:ext cx="9966960" cy="457200"/>
          </a:xfrm>
          <a:prstGeom prst="rect">
            <a:avLst/>
          </a:prstGeom>
          <a:noFill/>
          <a:ln/>
        </p:spPr>
        <p:txBody>
          <a:bodyPr wrap="square" lIns="0" tIns="0" rIns="0" bIns="0" rtlCol="0">
            <a:normAutofit/>
          </a:bodyPr>
          <a:lstStyle/>
          <a:p>
            <a:pPr indent="0" marL="0">
              <a:lnSpc>
                <a:spcPts val="2000"/>
              </a:lnSpc>
              <a:buNone/>
            </a:pPr>
            <a:r>
              <a:rPr lang="en-US" sz="1500" dirty="0">
                <a:solidFill>
                  <a:srgbClr val="667180"/>
                </a:solidFill>
                <a:latin typeface="Calibri" pitchFamily="34" charset="0"/>
                <a:ea typeface="Calibri" pitchFamily="34" charset="-122"/>
                <a:cs typeface="Calibri" pitchFamily="34" charset="-120"/>
              </a:rPr>
              <a:t>The planner selects which check to run next, so different claims run different checks in different orders. Implemented as a LangGraph StateGraph in one file.</a:t>
            </a:r>
            <a:endParaRPr lang="en-US" sz="1500" dirty="0"/>
          </a:p>
        </p:txBody>
      </p:sp>
      <p:sp>
        <p:nvSpPr>
          <p:cNvPr id="5" name="Text 1"/>
          <p:cNvSpPr/>
          <p:nvPr>
            <p:ph idx="104" type="body" hasCustomPrompt="1"/>
          </p:nvPr>
        </p:nvSpPr>
        <p:spPr>
          <a:xfrm>
            <a:off x="1115568" y="2560320"/>
            <a:ext cx="9957816" cy="283464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Planner, a small LLM: reads the evidence gathered so far and names the next unresolved check, or declares the evidence sufficient.</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Executor, deterministic code: runs one check from the allowlist, records the result as a validated evidence item, increments the call counter.</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Verifier, deterministic code: returns continue, complete, or escalate.</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On continue the loop returns to the planner. It terminates at adjudicate or at escalate.</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MAX_TOOL_CALLS = 8 and MAX_REPLANS = 2. Six checks gathered once uses six calls, leaving room for up to two adaptive re investigations before the ceiling.</a:t>
            </a:r>
            <a:endParaRPr lang="en-US" sz="1300" dirty="0"/>
          </a:p>
          <a:p>
            <a:pPr marL="342900" indent="-342900">
              <a:lnSpc>
                <a:spcPts val="1700"/>
              </a:lnSpc>
              <a:spcAft>
                <a:spcPts val="800"/>
              </a:spcAft>
              <a:buSzPct val="100000"/>
              <a:buChar char="•"/>
            </a:pPr>
            <a:r>
              <a:rPr lang="en-US" sz="1300" dirty="0">
                <a:solidFill>
                  <a:srgbClr val="22303C"/>
                </a:solidFill>
                <a:latin typeface="Calibri" pitchFamily="34" charset="0"/>
                <a:ea typeface="Calibri" pitchFamily="34" charset="-122"/>
                <a:cs typeface="Calibri" pitchFamily="34" charset="-120"/>
              </a:rPr>
              <a:t>adjudicate sits outside the loop. It persists the perceived damage, then calls rules_engine.compute_payout, the same engine Architecture 2 uses.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ARCHITECTURE 3</a:t>
            </a:r>
            <a:endParaRPr lang="en-US" sz="1100" dirty="0"/>
          </a:p>
        </p:txBody>
      </p:sp>
      <p:sp>
        <p:nvSpPr>
          <p:cNvPr id="3" name="Text 0"/>
          <p:cNvSpPr/>
          <p:nvPr>
            <p:ph idx="101"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The six checks the agent can run</a:t>
            </a:r>
            <a:endParaRPr lang="en-US" sz="3100" dirty="0"/>
          </a:p>
        </p:txBody>
      </p:sp>
      <p:sp>
        <p:nvSpPr>
          <p:cNvPr id="4" name="Text 0"/>
          <p:cNvSpPr/>
          <p:nvPr>
            <p:ph idx="102" type="body" hasCustomPrompt="1"/>
          </p:nvPr>
        </p:nvSpPr>
        <p:spPr>
          <a:xfrm>
            <a:off x="822960" y="1645920"/>
            <a:ext cx="9966960" cy="457200"/>
          </a:xfrm>
          <a:prstGeom prst="rect">
            <a:avLst/>
          </a:prstGeom>
          <a:noFill/>
          <a:ln/>
        </p:spPr>
        <p:txBody>
          <a:bodyPr wrap="square" lIns="0" tIns="0" rIns="0" bIns="0" rtlCol="0">
            <a:normAutofit/>
          </a:bodyPr>
          <a:lstStyle/>
          <a:p>
            <a:pPr indent="0" marL="0">
              <a:lnSpc>
                <a:spcPts val="2000"/>
              </a:lnSpc>
              <a:buNone/>
            </a:pPr>
            <a:r>
              <a:rPr lang="en-US" sz="1500" dirty="0">
                <a:solidFill>
                  <a:srgbClr val="667180"/>
                </a:solidFill>
                <a:latin typeface="Calibri" pitchFamily="34" charset="0"/>
                <a:ea typeface="Calibri" pitchFamily="34" charset="-122"/>
                <a:cs typeface="Calibri" pitchFamily="34" charset="-120"/>
              </a:rPr>
              <a:t>The planner chooses among the checks that are currently available. The executor enforces the prerequisites, so checks cannot run out of order.</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286000"/>
          <a:ext cx="10543032" cy="914400"/>
        </p:xfrm>
        <a:graphic>
          <a:graphicData uri="http://schemas.openxmlformats.org/drawingml/2006/table">
            <a:tbl>
              <a:tblPr/>
              <a:tblGrid>
                <a:gridCol w="2286000"/>
                <a:gridCol w="1737360"/>
                <a:gridCol w="1828800"/>
                <a:gridCol w="4690872"/>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2230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Engine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2230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Requires</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2230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answers</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22303C"/>
                    </a:solidFill>
                  </a:tcPr>
                </a:tc>
              </a:tr>
              <a:tr h="274320">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image_quality</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Vision model</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Is this a usable photo of a car</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damage_type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Vision model</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image_quality</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What damage is present, with confidence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story_consistency</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Judge model</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damage_type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Does the claim story match the damage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claimed_peril</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Judge model</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What peril is being claimed</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policy_coverage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Database read</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claimed_peril</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Is that peril covered, and at what limit</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policy_dates</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Database read</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Was the policy in force on the loss date</a:t>
                      </a:r>
                      <a:endParaRPr lang="en-US" sz="120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bl>
          </a:graphicData>
        </a:graphic>
      </p:graphicFrame>
      <p:sp>
        <p:nvSpPr>
          <p:cNvPr id="6" name="Text 0"/>
          <p:cNvSpPr/>
          <p:nvPr>
            <p:ph idx="103" type="body" hasCustomPrompt="1"/>
          </p:nvPr>
        </p:nvSpPr>
        <p:spPr>
          <a:xfrm>
            <a:off x="822960" y="4480560"/>
            <a:ext cx="10543032" cy="640080"/>
          </a:xfrm>
          <a:prstGeom prst="rect">
            <a:avLst/>
          </a:prstGeom>
          <a:noFill/>
          <a:ln/>
        </p:spPr>
        <p:txBody>
          <a:bodyPr wrap="square" lIns="0" tIns="0" rIns="0" bIns="0" rtlCol="0">
            <a:normAutofit/>
          </a:bodyPr>
          <a:lstStyle/>
          <a:p>
            <a:pPr indent="0" marL="0">
              <a:lnSpc>
                <a:spcPts val="1700"/>
              </a:lnSpc>
              <a:buNone/>
            </a:pPr>
            <a:r>
              <a:rPr lang="en-US" sz="1250" dirty="0">
                <a:solidFill>
                  <a:srgbClr val="22303C"/>
                </a:solidFill>
                <a:latin typeface="Calibri" pitchFamily="34" charset="0"/>
                <a:ea typeface="Calibri" pitchFamily="34" charset="-122"/>
                <a:cs typeface="Calibri" pitchFamily="34" charset="-120"/>
              </a:rPr>
              <a:t>Two of the six checks involve no model at all. Prerequisites exist because a check cannot be answered before its input is: the story cannot be judged against damage that has not been read, and coverage cannot be checked before the peril is known.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SAFETY</a:t>
            </a:r>
            <a:endParaRPr lang="en-US" sz="1100" dirty="0"/>
          </a:p>
        </p:txBody>
      </p:sp>
      <p:sp>
        <p:nvSpPr>
          <p:cNvPr id="3" name="Text 3"/>
          <p:cNvSpPr/>
          <p:nvPr>
            <p:ph idx="104"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The agent cannot compute or approve a payout</a:t>
            </a:r>
            <a:endParaRPr lang="en-US" sz="3100" dirty="0"/>
          </a:p>
        </p:txBody>
      </p:sp>
      <p:sp>
        <p:nvSpPr>
          <p:cNvPr id="4" name="Text 3"/>
          <p:cNvSpPr/>
          <p:nvPr>
            <p:ph idx="105" type="body" hasCustomPrompt="1"/>
          </p:nvPr>
        </p:nvSpPr>
        <p:spPr>
          <a:xfrm>
            <a:off x="822960" y="1645920"/>
            <a:ext cx="9966960" cy="457200"/>
          </a:xfrm>
          <a:prstGeom prst="rect">
            <a:avLst/>
          </a:prstGeom>
          <a:noFill/>
          <a:ln/>
        </p:spPr>
        <p:txBody>
          <a:bodyPr wrap="square" lIns="0" tIns="0" rIns="0" bIns="0" rtlCol="0">
            <a:normAutofit/>
          </a:bodyPr>
          <a:lstStyle/>
          <a:p>
            <a:pPr indent="0" marL="0">
              <a:lnSpc>
                <a:spcPts val="2000"/>
              </a:lnSpc>
              <a:buNone/>
            </a:pPr>
            <a:r>
              <a:rPr lang="en-US" sz="1500" dirty="0">
                <a:solidFill>
                  <a:srgbClr val="667180"/>
                </a:solidFill>
                <a:latin typeface="Calibri" pitchFamily="34" charset="0"/>
                <a:ea typeface="Calibri" pitchFamily="34" charset="-122"/>
                <a:cs typeface="Calibri" pitchFamily="34" charset="-120"/>
              </a:rPr>
              <a:t>Autonomy is scoped to which evidence gets gathered. The financial decision runs outside the loop, in deterministic code.</a:t>
            </a:r>
            <a:endParaRPr lang="en-US" sz="1500" dirty="0"/>
          </a:p>
        </p:txBody>
      </p:sp>
      <p:sp>
        <p:nvSpPr>
          <p:cNvPr id="5" name="Text 3"/>
          <p:cNvSpPr/>
          <p:nvPr>
            <p:ph idx="106" type="body" hasCustomPrompt="1"/>
          </p:nvPr>
        </p:nvSpPr>
        <p:spPr>
          <a:xfrm>
            <a:off x="1115568" y="2487168"/>
            <a:ext cx="4535424" cy="320040"/>
          </a:xfrm>
          <a:prstGeom prst="rect">
            <a:avLst/>
          </a:prstGeom>
          <a:noFill/>
          <a:ln/>
        </p:spPr>
        <p:txBody>
          <a:bodyPr wrap="square" lIns="0" tIns="0" rIns="0" bIns="0" rtlCol="0">
            <a:normAutofit/>
          </a:bodyPr>
          <a:lstStyle/>
          <a:p>
            <a:pPr indent="0" marL="0">
              <a:buNone/>
            </a:pPr>
            <a:r>
              <a:rPr lang="en-US" sz="1650" b="1" dirty="0">
                <a:solidFill>
                  <a:srgbClr val="9A3B2C"/>
                </a:solidFill>
                <a:latin typeface="Cambria" pitchFamily="34" charset="0"/>
                <a:ea typeface="Cambria" pitchFamily="34" charset="-122"/>
                <a:cs typeface="Cambria" pitchFamily="34" charset="-120"/>
              </a:rPr>
              <a:t>Why it cannot</a:t>
            </a:r>
            <a:endParaRPr lang="en-US" sz="1650" dirty="0"/>
          </a:p>
        </p:txBody>
      </p:sp>
      <p:sp>
        <p:nvSpPr>
          <p:cNvPr id="6" name="Text 3"/>
          <p:cNvSpPr/>
          <p:nvPr>
            <p:ph idx="107" type="body" hasCustomPrompt="1"/>
          </p:nvPr>
        </p:nvSpPr>
        <p:spPr>
          <a:xfrm>
            <a:off x="1115568" y="2926080"/>
            <a:ext cx="4535424" cy="201168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The check name enum is the tool allowlist, and it has no approve, deny, compute payout, or write policy member</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The executor dispatches only from the check registry</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A planner that outputs an unregistered name resolves to no check, and nothing runs</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Prompt injection cannot call a function that was never registered</a:t>
            </a:r>
            <a:endParaRPr lang="en-US" sz="1250" dirty="0"/>
          </a:p>
        </p:txBody>
      </p:sp>
      <p:sp>
        <p:nvSpPr>
          <p:cNvPr id="7" name="Text 3"/>
          <p:cNvSpPr/>
          <p:nvPr>
            <p:ph idx="108" type="body" hasCustomPrompt="1"/>
          </p:nvPr>
        </p:nvSpPr>
        <p:spPr>
          <a:xfrm>
            <a:off x="6537960" y="2487168"/>
            <a:ext cx="4535424" cy="320040"/>
          </a:xfrm>
          <a:prstGeom prst="rect">
            <a:avLst/>
          </a:prstGeom>
          <a:noFill/>
          <a:ln/>
        </p:spPr>
        <p:txBody>
          <a:bodyPr wrap="square" lIns="0" tIns="0" rIns="0" bIns="0" rtlCol="0">
            <a:normAutofit/>
          </a:bodyPr>
          <a:lstStyle/>
          <a:p>
            <a:pPr indent="0" marL="0">
              <a:buNone/>
            </a:pPr>
            <a:r>
              <a:rPr lang="en-US" sz="1650" b="1" dirty="0">
                <a:solidFill>
                  <a:srgbClr val="9A3B2C"/>
                </a:solidFill>
                <a:latin typeface="Cambria" pitchFamily="34" charset="0"/>
                <a:ea typeface="Cambria" pitchFamily="34" charset="-122"/>
                <a:cs typeface="Cambria" pitchFamily="34" charset="-120"/>
              </a:rPr>
              <a:t>Where the payout happens</a:t>
            </a:r>
            <a:endParaRPr lang="en-US" sz="1650" dirty="0"/>
          </a:p>
        </p:txBody>
      </p:sp>
      <p:sp>
        <p:nvSpPr>
          <p:cNvPr id="8" name="Text 3"/>
          <p:cNvSpPr/>
          <p:nvPr>
            <p:ph idx="109" type="body" hasCustomPrompt="1"/>
          </p:nvPr>
        </p:nvSpPr>
        <p:spPr>
          <a:xfrm>
            <a:off x="6537960" y="2926080"/>
            <a:ext cx="4535424" cy="201168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The agent's only output is an evidence package</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When the verifier returns complete, a separate adjudicate node runs the shared rules engine</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That is the same rules engine Architecture 2 calls, with the same thresholds</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Every model output is a Pydantic schema, so no free text reaches control flow</a:t>
            </a:r>
            <a:endParaRPr lang="en-US" sz="1250" dirty="0"/>
          </a:p>
        </p:txBody>
      </p:sp>
      <p:sp>
        <p:nvSpPr>
          <p:cNvPr id="9" name="Text 3"/>
          <p:cNvSpPr/>
          <p:nvPr>
            <p:ph idx="110" type="body" hasCustomPrompt="1"/>
          </p:nvPr>
        </p:nvSpPr>
        <p:spPr>
          <a:xfrm>
            <a:off x="1115568" y="5468112"/>
            <a:ext cx="9957816" cy="274320"/>
          </a:xfrm>
          <a:prstGeom prst="rect">
            <a:avLst/>
          </a:prstGeom>
          <a:noFill/>
          <a:ln/>
        </p:spPr>
        <p:txBody>
          <a:bodyPr wrap="square" lIns="0" tIns="0" rIns="0" bIns="0" rtlCol="0">
            <a:normAutofit/>
          </a:bodyPr>
          <a:lstStyle/>
          <a:p>
            <a:pPr indent="0" marL="0">
              <a:buNone/>
            </a:pPr>
            <a:r>
              <a:rPr lang="en-US" sz="1500" b="1" dirty="0">
                <a:solidFill>
                  <a:srgbClr val="22303C"/>
                </a:solidFill>
                <a:latin typeface="Cambria" pitchFamily="34" charset="0"/>
                <a:ea typeface="Cambria" pitchFamily="34" charset="-122"/>
                <a:cs typeface="Cambria" pitchFamily="34" charset="-120"/>
              </a:rPr>
              <a:t>Claim story text is treated as untrusted input.</a:t>
            </a:r>
            <a:endParaRPr lang="en-US" sz="1500" dirty="0"/>
          </a:p>
        </p:txBody>
      </p:sp>
      <p:sp>
        <p:nvSpPr>
          <p:cNvPr id="10" name="Text 3"/>
          <p:cNvSpPr/>
          <p:nvPr>
            <p:ph idx="111" type="body" hasCustomPrompt="1"/>
          </p:nvPr>
        </p:nvSpPr>
        <p:spPr>
          <a:xfrm>
            <a:off x="1115568" y="5760720"/>
            <a:ext cx="9957816" cy="457200"/>
          </a:xfrm>
          <a:prstGeom prst="rect">
            <a:avLst/>
          </a:prstGeom>
          <a:noFill/>
          <a:ln/>
        </p:spPr>
        <p:txBody>
          <a:bodyPr wrap="square" lIns="0" tIns="0" rIns="0" bIns="0" rtlCol="0">
            <a:normAutofit/>
          </a:bodyPr>
          <a:lstStyle/>
          <a:p>
            <a:pPr indent="0" marL="0">
              <a:lnSpc>
                <a:spcPts val="1600"/>
              </a:lnSpc>
              <a:buNone/>
            </a:pPr>
            <a:r>
              <a:rPr lang="en-US" sz="1250" dirty="0">
                <a:solidFill>
                  <a:srgbClr val="22303C"/>
                </a:solidFill>
                <a:latin typeface="Calibri" pitchFamily="34" charset="0"/>
                <a:ea typeface="Calibri" pitchFamily="34" charset="-122"/>
                <a:cs typeface="Calibri" pitchFamily="34" charset="-120"/>
              </a:rPr>
              <a:t>It is delimited in the prompt and scanned for injection, and a detected attempt sets a flag that escalates the claim. The semantic checks can only push a claim toward escalation, so a successful injection can at worst fail to escalate. It cannot change a payout.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RULES ENGINE</a:t>
            </a:r>
            <a:endParaRPr lang="en-US" sz="1100" dirty="0"/>
          </a:p>
        </p:txBody>
      </p:sp>
      <p:sp>
        <p:nvSpPr>
          <p:cNvPr id="3" name="Text 2"/>
          <p:cNvSpPr/>
          <p:nvPr>
            <p:ph idx="103"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Payout rules, shared by both architectures</a:t>
            </a:r>
            <a:endParaRPr lang="en-US" sz="3100" dirty="0"/>
          </a:p>
        </p:txBody>
      </p:sp>
      <p:sp>
        <p:nvSpPr>
          <p:cNvPr id="4" name="Text 2"/>
          <p:cNvSpPr/>
          <p:nvPr>
            <p:ph idx="104" type="body" hasCustomPrompt="1"/>
          </p:nvPr>
        </p:nvSpPr>
        <p:spPr>
          <a:xfrm>
            <a:off x="822960" y="1645920"/>
            <a:ext cx="9966960" cy="457200"/>
          </a:xfrm>
          <a:prstGeom prst="rect">
            <a:avLst/>
          </a:prstGeom>
          <a:noFill/>
          <a:ln/>
        </p:spPr>
        <p:txBody>
          <a:bodyPr wrap="square" lIns="0" tIns="0" rIns="0" bIns="0" rtlCol="0">
            <a:normAutofit/>
          </a:bodyPr>
          <a:lstStyle/>
          <a:p>
            <a:pPr indent="0" marL="0">
              <a:lnSpc>
                <a:spcPts val="2000"/>
              </a:lnSpc>
              <a:buNone/>
            </a:pPr>
            <a:r>
              <a:rPr lang="en-US" sz="1500" dirty="0">
                <a:solidFill>
                  <a:srgbClr val="667180"/>
                </a:solidFill>
                <a:latin typeface="Calibri" pitchFamily="34" charset="0"/>
                <a:ea typeface="Calibri" pitchFamily="34" charset="-122"/>
                <a:cs typeface="Calibri" pitchFamily="34" charset="-120"/>
              </a:rPr>
              <a:t>Both architectures call the same rules engine, so the thresholds and reason codes are identical and cannot drift apart.</a:t>
            </a:r>
            <a:endParaRPr lang="en-US" sz="1500" dirty="0"/>
          </a:p>
        </p:txBody>
      </p:sp>
      <p:sp>
        <p:nvSpPr>
          <p:cNvPr id="5" name="Text 2"/>
          <p:cNvSpPr/>
          <p:nvPr>
            <p:ph idx="105" type="body" hasCustomPrompt="1"/>
          </p:nvPr>
        </p:nvSpPr>
        <p:spPr>
          <a:xfrm>
            <a:off x="1115568" y="2441448"/>
            <a:ext cx="4535424" cy="274320"/>
          </a:xfrm>
          <a:prstGeom prst="rect">
            <a:avLst/>
          </a:prstGeom>
          <a:noFill/>
          <a:ln/>
        </p:spPr>
        <p:txBody>
          <a:bodyPr wrap="square" lIns="0" tIns="0" rIns="0" bIns="0" rtlCol="0">
            <a:normAutofit/>
          </a:bodyPr>
          <a:lstStyle/>
          <a:p>
            <a:pPr indent="0" marL="0">
              <a:buNone/>
            </a:pPr>
            <a:r>
              <a:rPr lang="en-US" sz="1250" dirty="0">
                <a:solidFill>
                  <a:srgbClr val="22303C"/>
                </a:solidFill>
                <a:latin typeface="Consolas" pitchFamily="34" charset="0"/>
                <a:ea typeface="Consolas" pitchFamily="34" charset="-122"/>
                <a:cs typeface="Consolas" pitchFamily="34" charset="-120"/>
              </a:rPr>
              <a:t>AUTO_APPROVE_MAX_PAYOUT = 2000.0</a:t>
            </a:r>
            <a:endParaRPr lang="en-US" sz="1250" dirty="0"/>
          </a:p>
        </p:txBody>
      </p:sp>
      <p:sp>
        <p:nvSpPr>
          <p:cNvPr id="6" name="Text 2"/>
          <p:cNvSpPr/>
          <p:nvPr>
            <p:ph idx="106" type="body" hasCustomPrompt="1"/>
          </p:nvPr>
        </p:nvSpPr>
        <p:spPr>
          <a:xfrm>
            <a:off x="1115568" y="2743200"/>
            <a:ext cx="4535424" cy="274320"/>
          </a:xfrm>
          <a:prstGeom prst="rect">
            <a:avLst/>
          </a:prstGeom>
          <a:noFill/>
          <a:ln/>
        </p:spPr>
        <p:txBody>
          <a:bodyPr wrap="square" lIns="0" tIns="0" rIns="0" bIns="0" rtlCol="0">
            <a:normAutofit/>
          </a:bodyPr>
          <a:lstStyle/>
          <a:p>
            <a:pPr indent="0" marL="0">
              <a:buNone/>
            </a:pPr>
            <a:r>
              <a:rPr lang="en-US" sz="1200" dirty="0">
                <a:solidFill>
                  <a:srgbClr val="667180"/>
                </a:solidFill>
                <a:latin typeface="Calibri" pitchFamily="34" charset="0"/>
                <a:ea typeface="Calibri" pitchFamily="34" charset="-122"/>
                <a:cs typeface="Calibri" pitchFamily="34" charset="-120"/>
              </a:rPr>
              <a:t>Defined in the spec.</a:t>
            </a:r>
            <a:endParaRPr lang="en-US" sz="1200" dirty="0"/>
          </a:p>
        </p:txBody>
      </p:sp>
      <p:sp>
        <p:nvSpPr>
          <p:cNvPr id="7" name="Text 2"/>
          <p:cNvSpPr/>
          <p:nvPr>
            <p:ph idx="107" type="body" hasCustomPrompt="1"/>
          </p:nvPr>
        </p:nvSpPr>
        <p:spPr>
          <a:xfrm>
            <a:off x="6537960" y="2441448"/>
            <a:ext cx="4535424" cy="274320"/>
          </a:xfrm>
          <a:prstGeom prst="rect">
            <a:avLst/>
          </a:prstGeom>
          <a:noFill/>
          <a:ln/>
        </p:spPr>
        <p:txBody>
          <a:bodyPr wrap="square" lIns="0" tIns="0" rIns="0" bIns="0" rtlCol="0">
            <a:normAutofit/>
          </a:bodyPr>
          <a:lstStyle/>
          <a:p>
            <a:pPr indent="0" marL="0">
              <a:buNone/>
            </a:pPr>
            <a:r>
              <a:rPr lang="en-US" sz="1250" dirty="0">
                <a:solidFill>
                  <a:srgbClr val="22303C"/>
                </a:solidFill>
                <a:latin typeface="Consolas" pitchFamily="34" charset="0"/>
                <a:ea typeface="Consolas" pitchFamily="34" charset="-122"/>
                <a:cs typeface="Consolas" pitchFamily="34" charset="-120"/>
              </a:rPr>
              <a:t>CONFIDENCE_THRESHOLD = 0.75</a:t>
            </a:r>
            <a:endParaRPr lang="en-US" sz="1250" dirty="0"/>
          </a:p>
        </p:txBody>
      </p:sp>
      <p:sp>
        <p:nvSpPr>
          <p:cNvPr id="8" name="Text 2"/>
          <p:cNvSpPr/>
          <p:nvPr>
            <p:ph idx="108" type="body" hasCustomPrompt="1"/>
          </p:nvPr>
        </p:nvSpPr>
        <p:spPr>
          <a:xfrm>
            <a:off x="6537960" y="2743200"/>
            <a:ext cx="4535424" cy="274320"/>
          </a:xfrm>
          <a:prstGeom prst="rect">
            <a:avLst/>
          </a:prstGeom>
          <a:noFill/>
          <a:ln/>
        </p:spPr>
        <p:txBody>
          <a:bodyPr wrap="square" lIns="0" tIns="0" rIns="0" bIns="0" rtlCol="0">
            <a:normAutofit/>
          </a:bodyPr>
          <a:lstStyle/>
          <a:p>
            <a:pPr indent="0" marL="0">
              <a:buNone/>
            </a:pPr>
            <a:r>
              <a:rPr lang="en-US" sz="1200" dirty="0">
                <a:solidFill>
                  <a:srgbClr val="667180"/>
                </a:solidFill>
                <a:latin typeface="Calibri" pitchFamily="34" charset="0"/>
                <a:ea typeface="Calibri" pitchFamily="34" charset="-122"/>
                <a:cs typeface="Calibri" pitchFamily="34" charset="-120"/>
              </a:rPr>
              <a:t>Not in the spec. Chosen by this build and tunable in evaluation.</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3474720"/>
          <a:ext cx="10543032" cy="914400"/>
        </p:xfrm>
        <a:graphic>
          <a:graphicData uri="http://schemas.openxmlformats.org/drawingml/2006/table">
            <a:tbl>
              <a:tblPr/>
              <a:tblGrid>
                <a:gridCol w="4572000"/>
                <a:gridCol w="1645920"/>
                <a:gridCol w="4325112"/>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Condition</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2230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Route</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2230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Reason code</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22303C"/>
                    </a:solidFill>
                  </a:tcPr>
                </a:tc>
              </a:tr>
              <a:tr h="274320">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Policy lapsed</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Auto deny</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policy_lapsed</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No covered cost</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Auto deny</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not_covered</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Deductible at or above the applicable limit</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Escalate</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policy_deductible_exceeds_limit</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Payout above $2,000</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Escalate</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payout_above_auto_approve_threshold</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Confidence below 0.75</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Escalate</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confidence_below_threshold</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Payout at or below $2,000 and confidence at or above 0.75</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Auto approve</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101600" marR="101600" marT="50800" marB="50800" anchor="ctr">
                    <a:lnL w="9525" cap="flat" cmpd="sng" algn="ctr">
                      <a:solidFill>
                        <a:srgbClr val="DDE0E4"/>
                      </a:solidFill>
                      <a:prstDash val="solid"/>
                      <a:round/>
                      <a:headEnd type="none" w="med" len="med"/>
                      <a:tailEnd type="none" w="med" len="med"/>
                    </a:lnL>
                    <a:lnR w="9525" cap="flat" cmpd="sng" algn="ctr">
                      <a:solidFill>
                        <a:srgbClr val="DDE0E4"/>
                      </a:solidFill>
                      <a:prstDash val="solid"/>
                      <a:round/>
                      <a:headEnd type="none" w="med" len="med"/>
                      <a:tailEnd type="none" w="med" len="med"/>
                    </a:lnR>
                    <a:lnT w="9525" cap="flat" cmpd="sng" algn="ctr">
                      <a:solidFill>
                        <a:srgbClr val="DDE0E4"/>
                      </a:solidFill>
                      <a:prstDash val="solid"/>
                      <a:round/>
                      <a:headEnd type="none" w="med" len="med"/>
                      <a:tailEnd type="none" w="med" len="med"/>
                    </a:lnT>
                    <a:lnB w="9525" cap="flat" cmpd="sng" algn="ctr">
                      <a:solidFill>
                        <a:srgbClr val="DDE0E4"/>
                      </a:solidFill>
                      <a:prstDash val="solid"/>
                      <a:round/>
                      <a:headEnd type="none" w="med" len="med"/>
                      <a:tailEnd type="none" w="med" len="med"/>
                    </a:lnB>
                    <a:solidFill>
                      <a:srgbClr val="FFFFFF"/>
                    </a:solidFill>
                  </a:tcPr>
                </a:tc>
              </a:tr>
            </a:tbl>
          </a:graphicData>
        </a:graphic>
      </p:graphicFrame>
      <p:sp>
        <p:nvSpPr>
          <p:cNvPr id="10" name="Text 2"/>
          <p:cNvSpPr/>
          <p:nvPr>
            <p:ph idx="109" type="body" hasCustomPrompt="1"/>
          </p:nvPr>
        </p:nvSpPr>
        <p:spPr>
          <a:xfrm>
            <a:off x="822960" y="5577840"/>
            <a:ext cx="10543032" cy="685800"/>
          </a:xfrm>
          <a:prstGeom prst="rect">
            <a:avLst/>
          </a:prstGeom>
          <a:noFill/>
          <a:ln/>
        </p:spPr>
        <p:txBody>
          <a:bodyPr wrap="square" lIns="0" tIns="0" rIns="0" bIns="0" rtlCol="0">
            <a:normAutofit/>
          </a:bodyPr>
          <a:lstStyle/>
          <a:p>
            <a:pPr indent="0" marL="0">
              <a:lnSpc>
                <a:spcPts val="1600"/>
              </a:lnSpc>
              <a:buNone/>
            </a:pPr>
            <a:r>
              <a:rPr lang="en-US" sz="1200" dirty="0">
                <a:solidFill>
                  <a:srgbClr val="667180"/>
                </a:solidFill>
                <a:latin typeface="Calibri" pitchFamily="34" charset="0"/>
                <a:ea typeface="Calibri" pitchFamily="34" charset="-122"/>
                <a:cs typeface="Calibri" pitchFamily="34" charset="-120"/>
              </a:rPr>
              <a:t>Both conditions must hold to auto approve, so a cheap claim with low confidence escalates and a confident but expensive claim escalates. The two reasons are recorded separately so they can be counted apart in a dashboard. Confidence is the minimum across detected damage instances, falling back to the gatekeeper's confidence when no damage was read.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ESCALATION</a:t>
            </a:r>
            <a:endParaRPr lang="en-US" sz="1100" dirty="0"/>
          </a:p>
        </p:txBody>
      </p:sp>
      <p:sp>
        <p:nvSpPr>
          <p:cNvPr id="3" name="Text 3"/>
          <p:cNvSpPr/>
          <p:nvPr>
            <p:ph idx="104"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What can trigger an escalation in each architecture</a:t>
            </a:r>
            <a:endParaRPr lang="en-US" sz="3100" dirty="0"/>
          </a:p>
        </p:txBody>
      </p:sp>
      <p:sp>
        <p:nvSpPr>
          <p:cNvPr id="4" name="Text 3"/>
          <p:cNvSpPr/>
          <p:nvPr>
            <p:ph idx="105" type="body" hasCustomPrompt="1"/>
          </p:nvPr>
        </p:nvSpPr>
        <p:spPr>
          <a:xfrm>
            <a:off x="822960" y="1645920"/>
            <a:ext cx="9966960" cy="457200"/>
          </a:xfrm>
          <a:prstGeom prst="rect">
            <a:avLst/>
          </a:prstGeom>
          <a:noFill/>
          <a:ln/>
        </p:spPr>
        <p:txBody>
          <a:bodyPr wrap="square" lIns="0" tIns="0" rIns="0" bIns="0" rtlCol="0">
            <a:normAutofit/>
          </a:bodyPr>
          <a:lstStyle/>
          <a:p>
            <a:pPr indent="0" marL="0">
              <a:lnSpc>
                <a:spcPts val="2000"/>
              </a:lnSpc>
              <a:buNone/>
            </a:pPr>
            <a:r>
              <a:rPr lang="en-US" sz="1500" dirty="0">
                <a:solidFill>
                  <a:srgbClr val="667180"/>
                </a:solidFill>
                <a:latin typeface="Calibri" pitchFamily="34" charset="0"/>
                <a:ea typeface="Calibri" pitchFamily="34" charset="-122"/>
                <a:cs typeface="Calibri" pitchFamily="34" charset="-120"/>
              </a:rPr>
              <a:t>The thresholds are identical. What differs is the set of conditions each architecture is able to detect.</a:t>
            </a:r>
            <a:endParaRPr lang="en-US" sz="1500" dirty="0"/>
          </a:p>
        </p:txBody>
      </p:sp>
      <p:sp>
        <p:nvSpPr>
          <p:cNvPr id="5" name="Text 3"/>
          <p:cNvSpPr/>
          <p:nvPr>
            <p:ph idx="106" type="body" hasCustomPrompt="1"/>
          </p:nvPr>
        </p:nvSpPr>
        <p:spPr>
          <a:xfrm>
            <a:off x="1115568" y="2487168"/>
            <a:ext cx="4535424" cy="320040"/>
          </a:xfrm>
          <a:prstGeom prst="rect">
            <a:avLst/>
          </a:prstGeom>
          <a:noFill/>
          <a:ln/>
        </p:spPr>
        <p:txBody>
          <a:bodyPr wrap="square" lIns="0" tIns="0" rIns="0" bIns="0" rtlCol="0">
            <a:normAutofit/>
          </a:bodyPr>
          <a:lstStyle/>
          <a:p>
            <a:pPr indent="0" marL="0">
              <a:buNone/>
            </a:pPr>
            <a:r>
              <a:rPr lang="en-US" sz="1650" b="1" dirty="0">
                <a:solidFill>
                  <a:srgbClr val="9A3B2C"/>
                </a:solidFill>
                <a:latin typeface="Cambria" pitchFamily="34" charset="0"/>
                <a:ea typeface="Cambria" pitchFamily="34" charset="-122"/>
                <a:cs typeface="Cambria" pitchFamily="34" charset="-120"/>
              </a:rPr>
              <a:t>Architecture 2</a:t>
            </a:r>
            <a:endParaRPr lang="en-US" sz="1650" dirty="0"/>
          </a:p>
        </p:txBody>
      </p:sp>
      <p:sp>
        <p:nvSpPr>
          <p:cNvPr id="6" name="Text 3"/>
          <p:cNvSpPr/>
          <p:nvPr>
            <p:ph idx="107" type="body" hasCustomPrompt="1"/>
          </p:nvPr>
        </p:nvSpPr>
        <p:spPr>
          <a:xfrm>
            <a:off x="1115568" y="2926080"/>
            <a:ext cx="4535424" cy="201168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The gatekeeper rejecting an unusable photo, which returns a retake request</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The rules engine table on the previous slide</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It never reads the claim story, so it cannot detect a story that contradicts the damage</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On the mismatch subset of the golden set it is expected to score zero, which is the gap Architecture 3 was built to cover</a:t>
            </a:r>
            <a:endParaRPr lang="en-US" sz="1250" dirty="0"/>
          </a:p>
        </p:txBody>
      </p:sp>
      <p:sp>
        <p:nvSpPr>
          <p:cNvPr id="7" name="Text 3"/>
          <p:cNvSpPr/>
          <p:nvPr>
            <p:ph idx="108" type="body" hasCustomPrompt="1"/>
          </p:nvPr>
        </p:nvSpPr>
        <p:spPr>
          <a:xfrm>
            <a:off x="6537960" y="2487168"/>
            <a:ext cx="4535424" cy="320040"/>
          </a:xfrm>
          <a:prstGeom prst="rect">
            <a:avLst/>
          </a:prstGeom>
          <a:noFill/>
          <a:ln/>
        </p:spPr>
        <p:txBody>
          <a:bodyPr wrap="square" lIns="0" tIns="0" rIns="0" bIns="0" rtlCol="0">
            <a:normAutofit/>
          </a:bodyPr>
          <a:lstStyle/>
          <a:p>
            <a:pPr indent="0" marL="0">
              <a:buNone/>
            </a:pPr>
            <a:r>
              <a:rPr lang="en-US" sz="1650" b="1" dirty="0">
                <a:solidFill>
                  <a:srgbClr val="9A3B2C"/>
                </a:solidFill>
                <a:latin typeface="Cambria" pitchFamily="34" charset="0"/>
                <a:ea typeface="Cambria" pitchFamily="34" charset="-122"/>
                <a:cs typeface="Cambria" pitchFamily="34" charset="-120"/>
              </a:rPr>
              <a:t>Architecture 3</a:t>
            </a:r>
            <a:endParaRPr lang="en-US" sz="1650" dirty="0"/>
          </a:p>
        </p:txBody>
      </p:sp>
      <p:sp>
        <p:nvSpPr>
          <p:cNvPr id="8" name="Text 3"/>
          <p:cNvSpPr/>
          <p:nvPr>
            <p:ph idx="109" type="body" hasCustomPrompt="1"/>
          </p:nvPr>
        </p:nvSpPr>
        <p:spPr>
          <a:xfrm>
            <a:off x="6537960" y="2926080"/>
            <a:ext cx="4535424" cy="201168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Inside the loop, the verifier escalates on story and damage mismatch, prompt injection, tool failure, missing evidence, repeated unproductive calls, and exhausting either limit</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A soft flag such as an unclear peril triggers one more investigation, then escalates</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Outside the loop, adjudicate applies the same payout and confidence thresholds</a:t>
            </a:r>
            <a:endParaRPr lang="en-US" sz="1250" dirty="0"/>
          </a:p>
        </p:txBody>
      </p:sp>
      <p:sp>
        <p:nvSpPr>
          <p:cNvPr id="9" name="Text 3"/>
          <p:cNvSpPr/>
          <p:nvPr>
            <p:ph idx="110" type="body" hasCustomPrompt="1"/>
          </p:nvPr>
        </p:nvSpPr>
        <p:spPr>
          <a:xfrm>
            <a:off x="1115568" y="5468112"/>
            <a:ext cx="9957816" cy="274320"/>
          </a:xfrm>
          <a:prstGeom prst="rect">
            <a:avLst/>
          </a:prstGeom>
          <a:noFill/>
          <a:ln/>
        </p:spPr>
        <p:txBody>
          <a:bodyPr wrap="square" lIns="0" tIns="0" rIns="0" bIns="0" rtlCol="0">
            <a:normAutofit/>
          </a:bodyPr>
          <a:lstStyle/>
          <a:p>
            <a:pPr indent="0" marL="0">
              <a:buNone/>
            </a:pPr>
            <a:r>
              <a:rPr lang="en-US" sz="1500" b="1" dirty="0">
                <a:solidFill>
                  <a:srgbClr val="22303C"/>
                </a:solidFill>
                <a:latin typeface="Cambria" pitchFamily="34" charset="0"/>
                <a:ea typeface="Cambria" pitchFamily="34" charset="-122"/>
                <a:cs typeface="Cambria" pitchFamily="34" charset="-120"/>
              </a:rPr>
              <a:t>Where each kind of escalation is decided.</a:t>
            </a:r>
            <a:endParaRPr lang="en-US" sz="1500" dirty="0"/>
          </a:p>
        </p:txBody>
      </p:sp>
      <p:sp>
        <p:nvSpPr>
          <p:cNvPr id="10" name="Text 3"/>
          <p:cNvSpPr/>
          <p:nvPr>
            <p:ph idx="111" type="body" hasCustomPrompt="1"/>
          </p:nvPr>
        </p:nvSpPr>
        <p:spPr>
          <a:xfrm>
            <a:off x="1115568" y="5760720"/>
            <a:ext cx="9957816" cy="457200"/>
          </a:xfrm>
          <a:prstGeom prst="rect">
            <a:avLst/>
          </a:prstGeom>
          <a:noFill/>
          <a:ln/>
        </p:spPr>
        <p:txBody>
          <a:bodyPr wrap="square" lIns="0" tIns="0" rIns="0" bIns="0" rtlCol="0">
            <a:normAutofit/>
          </a:bodyPr>
          <a:lstStyle/>
          <a:p>
            <a:pPr indent="0" marL="0">
              <a:lnSpc>
                <a:spcPts val="1600"/>
              </a:lnSpc>
              <a:buNone/>
            </a:pPr>
            <a:r>
              <a:rPr lang="en-US" sz="1250" dirty="0">
                <a:solidFill>
                  <a:srgbClr val="22303C"/>
                </a:solidFill>
                <a:latin typeface="Calibri" pitchFamily="34" charset="0"/>
                <a:ea typeface="Calibri" pitchFamily="34" charset="-122"/>
                <a:cs typeface="Calibri" pitchFamily="34" charset="-120"/>
              </a:rPr>
              <a:t>Anomaly escalations happen in the agent, before any money is computed. Cost and confidence escalations happen in the rules engine, after. The agent has no dollar figure available at the point where it decides to escalate.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body" hasCustomPrompt="1"/>
          </p:nvPr>
        </p:nvSpPr>
        <p:spPr>
          <a:xfrm>
            <a:off x="822960" y="566928"/>
            <a:ext cx="7315200" cy="274320"/>
          </a:xfrm>
          <a:prstGeom prst="rect">
            <a:avLst/>
          </a:prstGeom>
          <a:noFill/>
          <a:ln/>
        </p:spPr>
        <p:txBody>
          <a:bodyPr wrap="square" lIns="0" tIns="0" rIns="0" bIns="0" rtlCol="0">
            <a:normAutofit/>
          </a:bodyPr>
          <a:lstStyle/>
          <a:p>
            <a:pPr indent="0" marL="0">
              <a:buNone/>
            </a:pPr>
            <a:r>
              <a:rPr lang="en-US" sz="1100" b="1" spc="200" kern="0" dirty="0">
                <a:solidFill>
                  <a:srgbClr val="9A3B2C"/>
                </a:solidFill>
                <a:latin typeface="Calibri" pitchFamily="34" charset="0"/>
                <a:ea typeface="Calibri" pitchFamily="34" charset="-122"/>
                <a:cs typeface="Calibri" pitchFamily="34" charset="-120"/>
              </a:rPr>
              <a:t>COMPARISON</a:t>
            </a:r>
            <a:endParaRPr lang="en-US" sz="1100" dirty="0"/>
          </a:p>
        </p:txBody>
      </p:sp>
      <p:sp>
        <p:nvSpPr>
          <p:cNvPr id="3" name="Text 3"/>
          <p:cNvSpPr/>
          <p:nvPr>
            <p:ph idx="104" type="title" hasCustomPrompt="1"/>
          </p:nvPr>
        </p:nvSpPr>
        <p:spPr>
          <a:xfrm>
            <a:off x="822960" y="896112"/>
            <a:ext cx="10543032" cy="640080"/>
          </a:xfrm>
          <a:prstGeom prst="rect">
            <a:avLst/>
          </a:prstGeom>
          <a:noFill/>
          <a:ln/>
        </p:spPr>
        <p:txBody>
          <a:bodyPr wrap="square" lIns="0" tIns="0" rIns="0" bIns="0" rtlCol="0">
            <a:normAutofit/>
          </a:bodyPr>
          <a:lstStyle/>
          <a:p>
            <a:pPr indent="0" marL="0">
              <a:buNone/>
            </a:pPr>
            <a:r>
              <a:rPr lang="en-US" sz="3100" b="1" dirty="0">
                <a:solidFill>
                  <a:srgbClr val="22303C"/>
                </a:solidFill>
                <a:latin typeface="Cambria" pitchFamily="34" charset="0"/>
                <a:ea typeface="Cambria" pitchFamily="34" charset="-122"/>
                <a:cs typeface="Cambria" pitchFamily="34" charset="-120"/>
              </a:rPr>
              <a:t>Tradeoffs between the two built architectures</a:t>
            </a:r>
            <a:endParaRPr lang="en-US" sz="3100" dirty="0"/>
          </a:p>
        </p:txBody>
      </p:sp>
      <p:sp>
        <p:nvSpPr>
          <p:cNvPr id="4" name="Text 3"/>
          <p:cNvSpPr/>
          <p:nvPr>
            <p:ph idx="105" type="body" hasCustomPrompt="1"/>
          </p:nvPr>
        </p:nvSpPr>
        <p:spPr>
          <a:xfrm>
            <a:off x="822960" y="1645920"/>
            <a:ext cx="9966960" cy="457200"/>
          </a:xfrm>
          <a:prstGeom prst="rect">
            <a:avLst/>
          </a:prstGeom>
          <a:noFill/>
          <a:ln/>
        </p:spPr>
        <p:txBody>
          <a:bodyPr wrap="square" lIns="0" tIns="0" rIns="0" bIns="0" rtlCol="0">
            <a:normAutofit/>
          </a:bodyPr>
          <a:lstStyle/>
          <a:p>
            <a:pPr indent="0" marL="0">
              <a:lnSpc>
                <a:spcPts val="2000"/>
              </a:lnSpc>
              <a:buNone/>
            </a:pPr>
            <a:r>
              <a:rPr lang="en-US" sz="1500" dirty="0">
                <a:solidFill>
                  <a:srgbClr val="667180"/>
                </a:solidFill>
                <a:latin typeface="Calibri" pitchFamily="34" charset="0"/>
                <a:ea typeface="Calibri" pitchFamily="34" charset="-122"/>
                <a:cs typeface="Calibri" pitchFamily="34" charset="-120"/>
              </a:rPr>
              <a:t>Both are running end to end on the same shared foundation. The comparison against the golden set is the next step.</a:t>
            </a:r>
            <a:endParaRPr lang="en-US" sz="1500" dirty="0"/>
          </a:p>
        </p:txBody>
      </p:sp>
      <p:sp>
        <p:nvSpPr>
          <p:cNvPr id="5" name="Text 3"/>
          <p:cNvSpPr/>
          <p:nvPr>
            <p:ph idx="106" type="body" hasCustomPrompt="1"/>
          </p:nvPr>
        </p:nvSpPr>
        <p:spPr>
          <a:xfrm>
            <a:off x="1115568" y="2487168"/>
            <a:ext cx="4535424" cy="320040"/>
          </a:xfrm>
          <a:prstGeom prst="rect">
            <a:avLst/>
          </a:prstGeom>
          <a:noFill/>
          <a:ln/>
        </p:spPr>
        <p:txBody>
          <a:bodyPr wrap="square" lIns="0" tIns="0" rIns="0" bIns="0" rtlCol="0">
            <a:normAutofit/>
          </a:bodyPr>
          <a:lstStyle/>
          <a:p>
            <a:pPr indent="0" marL="0">
              <a:buNone/>
            </a:pPr>
            <a:r>
              <a:rPr lang="en-US" sz="1650" b="1" dirty="0">
                <a:solidFill>
                  <a:srgbClr val="9A3B2C"/>
                </a:solidFill>
                <a:latin typeface="Cambria" pitchFamily="34" charset="0"/>
                <a:ea typeface="Cambria" pitchFamily="34" charset="-122"/>
                <a:cs typeface="Cambria" pitchFamily="34" charset="-120"/>
              </a:rPr>
              <a:t>Architecture 2</a:t>
            </a:r>
            <a:endParaRPr lang="en-US" sz="1650" dirty="0"/>
          </a:p>
        </p:txBody>
      </p:sp>
      <p:sp>
        <p:nvSpPr>
          <p:cNvPr id="6" name="Text 3"/>
          <p:cNvSpPr/>
          <p:nvPr>
            <p:ph idx="107" type="body" hasCustomPrompt="1"/>
          </p:nvPr>
        </p:nvSpPr>
        <p:spPr>
          <a:xfrm>
            <a:off x="1115568" y="2926080"/>
            <a:ext cx="4535424" cy="201168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Cheapest and fastest, with a fixed number of model calls per claim</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Deterministic control flow, so the same photo takes the same path every time</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Cannot detect anything it does not look at, including story inconsistency and fraud signals</a:t>
            </a:r>
            <a:endParaRPr lang="en-US" sz="1250" dirty="0"/>
          </a:p>
        </p:txBody>
      </p:sp>
      <p:sp>
        <p:nvSpPr>
          <p:cNvPr id="7" name="Text 3"/>
          <p:cNvSpPr/>
          <p:nvPr>
            <p:ph idx="108" type="body" hasCustomPrompt="1"/>
          </p:nvPr>
        </p:nvSpPr>
        <p:spPr>
          <a:xfrm>
            <a:off x="6537960" y="2487168"/>
            <a:ext cx="4535424" cy="320040"/>
          </a:xfrm>
          <a:prstGeom prst="rect">
            <a:avLst/>
          </a:prstGeom>
          <a:noFill/>
          <a:ln/>
        </p:spPr>
        <p:txBody>
          <a:bodyPr wrap="square" lIns="0" tIns="0" rIns="0" bIns="0" rtlCol="0">
            <a:normAutofit/>
          </a:bodyPr>
          <a:lstStyle/>
          <a:p>
            <a:pPr indent="0" marL="0">
              <a:buNone/>
            </a:pPr>
            <a:r>
              <a:rPr lang="en-US" sz="1650" b="1" dirty="0">
                <a:solidFill>
                  <a:srgbClr val="9A3B2C"/>
                </a:solidFill>
                <a:latin typeface="Cambria" pitchFamily="34" charset="0"/>
                <a:ea typeface="Cambria" pitchFamily="34" charset="-122"/>
                <a:cs typeface="Cambria" pitchFamily="34" charset="-120"/>
              </a:rPr>
              <a:t>Architecture 3</a:t>
            </a:r>
            <a:endParaRPr lang="en-US" sz="1650" dirty="0"/>
          </a:p>
        </p:txBody>
      </p:sp>
      <p:sp>
        <p:nvSpPr>
          <p:cNvPr id="8" name="Text 3"/>
          <p:cNvSpPr/>
          <p:nvPr>
            <p:ph idx="109" type="body" hasCustomPrompt="1"/>
          </p:nvPr>
        </p:nvSpPr>
        <p:spPr>
          <a:xfrm>
            <a:off x="6537960" y="2926080"/>
            <a:ext cx="4535424" cy="2011680"/>
          </a:xfrm>
          <a:prstGeom prst="rect">
            <a:avLst/>
          </a:prstGeom>
          <a:noFill/>
          <a:ln/>
        </p:spPr>
        <p:txBody>
          <a:bodyPr wrap="square" lIns="0" tIns="0" rIns="0" bIns="0" rtlCol="0">
            <a:normAutofit/>
          </a:bodyPr>
          <a:lstStyle/>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Catches the mismatch cases Architecture 2 cannot, and adapts the number of checks to the claim</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Slowest and most expensive, with up to eight model calls per claim</a:t>
            </a:r>
            <a:endParaRPr lang="en-US" sz="1250" dirty="0"/>
          </a:p>
          <a:p>
            <a:pPr marL="342900" indent="-342900">
              <a:lnSpc>
                <a:spcPts val="1700"/>
              </a:lnSpc>
              <a:spcAft>
                <a:spcPts val="800"/>
              </a:spcAft>
              <a:buSzPct val="100000"/>
              <a:buChar char="•"/>
            </a:pPr>
            <a:r>
              <a:rPr lang="en-US" sz="1250" dirty="0">
                <a:solidFill>
                  <a:srgbClr val="22303C"/>
                </a:solidFill>
                <a:latin typeface="Calibri" pitchFamily="34" charset="0"/>
                <a:ea typeface="Calibri" pitchFamily="34" charset="-122"/>
                <a:cs typeface="Calibri" pitchFamily="34" charset="-120"/>
              </a:rPr>
              <a:t>Nondeterministic control flow, and trajectory level evaluation needs operational data that does not exist yet</a:t>
            </a:r>
            <a:endParaRPr lang="en-US" sz="1250" dirty="0"/>
          </a:p>
        </p:txBody>
      </p:sp>
      <p:sp>
        <p:nvSpPr>
          <p:cNvPr id="9" name="Text 3"/>
          <p:cNvSpPr/>
          <p:nvPr>
            <p:ph idx="110" type="body" hasCustomPrompt="1"/>
          </p:nvPr>
        </p:nvSpPr>
        <p:spPr>
          <a:xfrm>
            <a:off x="1115568" y="5468112"/>
            <a:ext cx="9957816" cy="274320"/>
          </a:xfrm>
          <a:prstGeom prst="rect">
            <a:avLst/>
          </a:prstGeom>
          <a:noFill/>
          <a:ln/>
        </p:spPr>
        <p:txBody>
          <a:bodyPr wrap="square" lIns="0" tIns="0" rIns="0" bIns="0" rtlCol="0">
            <a:normAutofit/>
          </a:bodyPr>
          <a:lstStyle/>
          <a:p>
            <a:pPr indent="0" marL="0">
              <a:buNone/>
            </a:pPr>
            <a:r>
              <a:rPr lang="en-US" sz="1500" b="1" dirty="0">
                <a:solidFill>
                  <a:srgbClr val="22303C"/>
                </a:solidFill>
                <a:latin typeface="Cambria" pitchFamily="34" charset="0"/>
                <a:ea typeface="Cambria" pitchFamily="34" charset="-122"/>
                <a:cs typeface="Cambria" pitchFamily="34" charset="-120"/>
              </a:rPr>
              <a:t>Both keep a full per step log.</a:t>
            </a:r>
            <a:endParaRPr lang="en-US" sz="1500" dirty="0"/>
          </a:p>
        </p:txBody>
      </p:sp>
      <p:sp>
        <p:nvSpPr>
          <p:cNvPr id="10" name="Text 3"/>
          <p:cNvSpPr/>
          <p:nvPr>
            <p:ph idx="111" type="body" hasCustomPrompt="1"/>
          </p:nvPr>
        </p:nvSpPr>
        <p:spPr>
          <a:xfrm>
            <a:off x="1115568" y="5760720"/>
            <a:ext cx="9957816" cy="457200"/>
          </a:xfrm>
          <a:prstGeom prst="rect">
            <a:avLst/>
          </a:prstGeom>
          <a:noFill/>
          <a:ln/>
        </p:spPr>
        <p:txBody>
          <a:bodyPr wrap="square" lIns="0" tIns="0" rIns="0" bIns="0" rtlCol="0">
            <a:normAutofit/>
          </a:bodyPr>
          <a:lstStyle/>
          <a:p>
            <a:pPr indent="0" marL="0">
              <a:lnSpc>
                <a:spcPts val="1600"/>
              </a:lnSpc>
              <a:buNone/>
            </a:pPr>
            <a:r>
              <a:rPr lang="en-US" sz="1250" dirty="0">
                <a:solidFill>
                  <a:srgbClr val="22303C"/>
                </a:solidFill>
                <a:latin typeface="Calibri" pitchFamily="34" charset="0"/>
                <a:ea typeface="Calibri" pitchFamily="34" charset="-122"/>
                <a:cs typeface="Calibri" pitchFamily="34" charset="-120"/>
              </a:rPr>
              <a:t>Either architecture can answer why a given claim received its decision. For Architecture 3 that record is the trajectory: which checks ran, in what order, and what each returned.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auto claims: architecture review</dc:title>
  <dc:subject>PptxGenJS Presentation</dc:subject>
  <dc:creator>PptxGenJS</dc:creator>
  <cp:lastModifiedBy>PptxGenJS</cp:lastModifiedBy>
  <cp:revision>1</cp:revision>
  <dcterms:created xsi:type="dcterms:W3CDTF">2026-07-23T23:24:31Z</dcterms:created>
  <dcterms:modified xsi:type="dcterms:W3CDTF">2026-07-23T23:24:31Z</dcterms:modified>
</cp:coreProperties>
</file>